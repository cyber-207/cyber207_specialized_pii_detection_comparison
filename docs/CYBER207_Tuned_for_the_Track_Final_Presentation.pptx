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4ad8b014f479f" /><Relationship Type="http://schemas.openxmlformats.org/officeDocument/2006/relationships/extended-properties" Target="/docProps/app.xml" Id="Rfbca9e965755484d" /><Relationship Type="http://schemas.openxmlformats.org/officeDocument/2006/relationships/officeDocument" Target="/ppt/presentation.xml" Id="R63978d0356a1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48fe664294d87"/>
  </p:sldMasterIdLst>
  <p:notesMasterIdLst>
    <p:notesMasterId xmlns:r="http://schemas.openxmlformats.org/officeDocument/2006/relationships" r:id="Rabc1664b3c35410d"/>
  </p:notesMasterIdLst>
  <p:sldIdLst>
    <p:sldId xmlns:r="http://schemas.openxmlformats.org/officeDocument/2006/relationships" id="256" r:id="R1c02d21e6e904f16"/>
    <p:sldId xmlns:r="http://schemas.openxmlformats.org/officeDocument/2006/relationships" id="257" r:id="R44611dd360354aa3"/>
    <p:sldId xmlns:r="http://schemas.openxmlformats.org/officeDocument/2006/relationships" id="258" r:id="Rf0a22d18835046da"/>
    <p:sldId xmlns:r="http://schemas.openxmlformats.org/officeDocument/2006/relationships" id="259" r:id="R6d116547a0dc4231"/>
    <p:sldId xmlns:r="http://schemas.openxmlformats.org/officeDocument/2006/relationships" id="260" r:id="Rf318a59eda964b45"/>
    <p:sldId xmlns:r="http://schemas.openxmlformats.org/officeDocument/2006/relationships" id="261" r:id="R0bc2fa24f13f4dc0"/>
    <p:sldId xmlns:r="http://schemas.openxmlformats.org/officeDocument/2006/relationships" id="262" r:id="Re1c3e3c7929a4141"/>
    <p:sldId xmlns:r="http://schemas.openxmlformats.org/officeDocument/2006/relationships" id="263" r:id="R95f5879aa48e4435"/>
    <p:sldId xmlns:r="http://schemas.openxmlformats.org/officeDocument/2006/relationships" id="264" r:id="R98df0bc62faf4e1d"/>
    <p:sldId xmlns:r="http://schemas.openxmlformats.org/officeDocument/2006/relationships" id="265" r:id="Rca58c16765334a98"/>
    <p:sldId xmlns:r="http://schemas.openxmlformats.org/officeDocument/2006/relationships" id="266" r:id="Rba3209e533564ce9"/>
    <p:sldId xmlns:r="http://schemas.openxmlformats.org/officeDocument/2006/relationships" id="267" r:id="R6f6399d6b25f45c1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780E99D-80D2-4664-8E9A-7E63760A245B}">
  <a:tblStyle styleId="{8780E99D-80D2-4664-8E9A-7E63760A24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29d654856460f" /><Relationship Type="http://schemas.openxmlformats.org/officeDocument/2006/relationships/slideMaster" Target="/ppt/slideMasters/slideMaster1.xml" Id="R89248fe664294d87" /><Relationship Type="http://schemas.openxmlformats.org/officeDocument/2006/relationships/notesMaster" Target="/ppt/notesMasters/notesMaster1.xml" Id="Rabc1664b3c35410d" /><Relationship Type="http://schemas.openxmlformats.org/officeDocument/2006/relationships/presProps" Target="/ppt/presProps.xml" Id="Ra07fb50f17394097" /><Relationship Type="http://schemas.openxmlformats.org/officeDocument/2006/relationships/tableStyles" Target="/ppt/tableStyles.xml" Id="R40e49f25c90e49c3" /><Relationship Type="http://schemas.openxmlformats.org/officeDocument/2006/relationships/slide" Target="/ppt/slides/slide1.xml" Id="R1c02d21e6e904f16" /><Relationship Type="http://schemas.openxmlformats.org/officeDocument/2006/relationships/slide" Target="/ppt/slides/slide2.xml" Id="R44611dd360354aa3" /><Relationship Type="http://schemas.openxmlformats.org/officeDocument/2006/relationships/slide" Target="/ppt/slides/slide3.xml" Id="Rf0a22d18835046da" /><Relationship Type="http://schemas.openxmlformats.org/officeDocument/2006/relationships/slide" Target="/ppt/slides/slide4.xml" Id="R6d116547a0dc4231" /><Relationship Type="http://schemas.openxmlformats.org/officeDocument/2006/relationships/slide" Target="/ppt/slides/slide5.xml" Id="Rf318a59eda964b45" /><Relationship Type="http://schemas.openxmlformats.org/officeDocument/2006/relationships/slide" Target="/ppt/slides/slide6.xml" Id="R0bc2fa24f13f4dc0" /><Relationship Type="http://schemas.openxmlformats.org/officeDocument/2006/relationships/slide" Target="/ppt/slides/slide7.xml" Id="Re1c3e3c7929a4141" /><Relationship Type="http://schemas.openxmlformats.org/officeDocument/2006/relationships/slide" Target="/ppt/slides/slide8.xml" Id="R95f5879aa48e4435" /><Relationship Type="http://schemas.openxmlformats.org/officeDocument/2006/relationships/slide" Target="/ppt/slides/slide9.xml" Id="R98df0bc62faf4e1d" /><Relationship Type="http://schemas.openxmlformats.org/officeDocument/2006/relationships/slide" Target="/ppt/slides/slide10.xml" Id="Rca58c16765334a98" /><Relationship Type="http://schemas.openxmlformats.org/officeDocument/2006/relationships/slide" Target="/ppt/slides/slide11.xml" Id="Rba3209e533564ce9" /><Relationship Type="http://schemas.openxmlformats.org/officeDocument/2006/relationships/slide" Target="/ppt/slides/slide12.xml" Id="R6f6399d6b25f45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85f8e89ae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bc53e1e834bed" /><Relationship Type="http://schemas.openxmlformats.org/officeDocument/2006/relationships/notesMaster" Target="/ppt/notesMasters/notesMaster1.xml" Id="R9ec6f650d11148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de21e3b21a4948" /><Relationship Type="http://schemas.openxmlformats.org/officeDocument/2006/relationships/notesMaster" Target="/ppt/notesMasters/notesMaster1.xml" Id="Rd713578afedf4b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d7021346c74225" /><Relationship Type="http://schemas.openxmlformats.org/officeDocument/2006/relationships/notesMaster" Target="/ppt/notesMasters/notesMaster1.xml" Id="R28b56eb9c01a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1a91cf0e1a411e" /><Relationship Type="http://schemas.openxmlformats.org/officeDocument/2006/relationships/notesMaster" Target="/ppt/notesMasters/notesMaster1.xml" Id="Rbb3e4b515f30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7a742facd44bf1" /><Relationship Type="http://schemas.openxmlformats.org/officeDocument/2006/relationships/notesMaster" Target="/ppt/notesMasters/notesMaster1.xml" Id="R8b4aacbf031b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406667f2dc4618" /><Relationship Type="http://schemas.openxmlformats.org/officeDocument/2006/relationships/notesMaster" Target="/ppt/notesMasters/notesMaster1.xml" Id="R9358e9b0e0d0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43448c3b54f4c" /><Relationship Type="http://schemas.openxmlformats.org/officeDocument/2006/relationships/notesMaster" Target="/ppt/notesMasters/notesMaster1.xml" Id="Rbad63e71011d49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208109e9f84b76" /><Relationship Type="http://schemas.openxmlformats.org/officeDocument/2006/relationships/notesMaster" Target="/ppt/notesMasters/notesMaster1.xml" Id="R1eca76af0110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1511c14e6f4930" /><Relationship Type="http://schemas.openxmlformats.org/officeDocument/2006/relationships/notesMaster" Target="/ppt/notesMasters/notesMaster1.xml" Id="R13517d36a1eb4d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d6173a4be74c91" /><Relationship Type="http://schemas.openxmlformats.org/officeDocument/2006/relationships/notesMaster" Target="/ppt/notesMasters/notesMaster1.xml" Id="R3e533c957d9842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d2fea9d673492b" /><Relationship Type="http://schemas.openxmlformats.org/officeDocument/2006/relationships/notesMaster" Target="/ppt/notesMasters/notesMaster1.xml" Id="R315e6468a15142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b2446042e44a12" /><Relationship Type="http://schemas.openxmlformats.org/officeDocument/2006/relationships/notesMaster" Target="/ppt/notesMasters/notesMaster1.xml" Id="R9a6f1a3771f3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Final Notebook 00, Section 1, Background and Motivation.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Final Notebook 00, Sections 2 and 5.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- 01 Data EDA notebook, cell 7 synthetic AI4Privacy example, shortened for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Sections 3 and 4.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Final Notebook 00, Section 10.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Final Notebook 00, Sections 6 and 8.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 9 and Section 9.1 ablation result.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 11 overall model results.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Race-car markers generated with OpenAI image generation for this slide.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Phi-4 uses a stratified 3,000-row subset; the other rows use the full 32,543-row test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Sections 11–12 controlled comparison and latency output.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 13 error analysis.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Final Notebook 00, Sections 15–16 discussion and conclusion.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Visual styling and icons inherited from the team-authored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3302d696b4751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5c00c3b2a469c" /><Relationship Type="http://schemas.openxmlformats.org/officeDocument/2006/relationships/slideLayout" Target="/ppt/slideLayouts/slideLayout1.xml" Id="R2ea7e9f4409949c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7e9f4409949cb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33d5166934f9c" /><Relationship Type="http://schemas.openxmlformats.org/officeDocument/2006/relationships/image" Target="/ppt/media/image.png" Id="Ra5ed89c483ef4c09" /><Relationship Type="http://schemas.openxmlformats.org/officeDocument/2006/relationships/notesSlide" Target="/ppt/notesSlides/notesSlide1.xml" Id="Rf8d3f1370e26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12127821b4cb6" /><Relationship Type="http://schemas.openxmlformats.org/officeDocument/2006/relationships/image" Target="/ppt/media/image2.png" Id="R6dfc6b0873cc4bde" /><Relationship Type="http://schemas.openxmlformats.org/officeDocument/2006/relationships/image" Target="/ppt/media/image3.png" Id="R8e79e5e07b914bfc" /><Relationship Type="http://schemas.openxmlformats.org/officeDocument/2006/relationships/image" Target="/ppt/media/image4.png" Id="R1b5204c662cb463a" /><Relationship Type="http://schemas.openxmlformats.org/officeDocument/2006/relationships/image" Target="/ppt/media/image5.png" Id="R89633e00c1904e03" /><Relationship Type="http://schemas.openxmlformats.org/officeDocument/2006/relationships/image" Target="/ppt/media/image6.png" Id="R924abb84be9b4281" /><Relationship Type="http://schemas.openxmlformats.org/officeDocument/2006/relationships/image" Target="/ppt/media/image7.png" Id="R643672d6f266478a" /><Relationship Type="http://schemas.openxmlformats.org/officeDocument/2006/relationships/notesSlide" Target="/ppt/notesSlides/notesSlide2.xml" Id="Raa845b770742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0f27ef1ac47f9" /><Relationship Type="http://schemas.openxmlformats.org/officeDocument/2006/relationships/image" Target="/ppt/media/image8.png" Id="Rd5ed9cca8a6c49cf" /><Relationship Type="http://schemas.openxmlformats.org/officeDocument/2006/relationships/image" Target="/ppt/media/image9.png" Id="R4de4d83d2c2a4a0d" /><Relationship Type="http://schemas.openxmlformats.org/officeDocument/2006/relationships/notesSlide" Target="/ppt/notesSlides/notesSlide3.xml" Id="Rafe25752c6124d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71a1cdea4994" /><Relationship Type="http://schemas.openxmlformats.org/officeDocument/2006/relationships/image" Target="/ppt/media/image10.png" Id="Refac168eb4e643b7" /><Relationship Type="http://schemas.openxmlformats.org/officeDocument/2006/relationships/image" Target="/ppt/media/image11.png" Id="R32a04808eac149f2" /><Relationship Type="http://schemas.openxmlformats.org/officeDocument/2006/relationships/image" Target="/ppt/media/image12.png" Id="R6cdcda5cdae44f63" /><Relationship Type="http://schemas.openxmlformats.org/officeDocument/2006/relationships/notesSlide" Target="/ppt/notesSlides/notesSlide4.xml" Id="Ra20ce96495a448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85b4b2b274ee8" /><Relationship Type="http://schemas.openxmlformats.org/officeDocument/2006/relationships/image" Target="/ppt/media/image9.png" Id="R8fdcb173a7404d98" /><Relationship Type="http://schemas.openxmlformats.org/officeDocument/2006/relationships/image" Target="/ppt/media/image13.png" Id="R8ff4f93d1efd4f78" /><Relationship Type="http://schemas.openxmlformats.org/officeDocument/2006/relationships/image" Target="/ppt/media/image14.png" Id="R3d52d63e01f444af" /><Relationship Type="http://schemas.openxmlformats.org/officeDocument/2006/relationships/image" Target="/ppt/media/image15.png" Id="R884b181493124cbf" /><Relationship Type="http://schemas.openxmlformats.org/officeDocument/2006/relationships/image" Target="/ppt/media/image16.png" Id="R70c2ad1676fb4cf2" /><Relationship Type="http://schemas.openxmlformats.org/officeDocument/2006/relationships/notesSlide" Target="/ppt/notesSlides/notesSlide5.xml" Id="Rd0b6c098679146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98ad04e714577" /><Relationship Type="http://schemas.openxmlformats.org/officeDocument/2006/relationships/image" Target="/ppt/media/image17.png" Id="Raa89ac854a0b44e1" /><Relationship Type="http://schemas.openxmlformats.org/officeDocument/2006/relationships/notesSlide" Target="/ppt/notesSlides/notesSlide6.xml" Id="Rddf1393635c4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e9c4e2c734862" /><Relationship Type="http://schemas.openxmlformats.org/officeDocument/2006/relationships/image" Target="/ppt/media/image18.png" Id="R80756c60a5ee42aa" /><Relationship Type="http://schemas.openxmlformats.org/officeDocument/2006/relationships/image" Target="/ppt/media/image19.png" Id="R2cc6656ac8d04778" /><Relationship Type="http://schemas.openxmlformats.org/officeDocument/2006/relationships/image" Target="/ppt/media/image20.png" Id="R18c5081508384f9c" /><Relationship Type="http://schemas.openxmlformats.org/officeDocument/2006/relationships/image" Target="/ppt/media/image6.png" Id="Red404273591c40a4" /><Relationship Type="http://schemas.openxmlformats.org/officeDocument/2006/relationships/image" Target="/ppt/media/image15.png" Id="R5c15cd8d471e4514" /><Relationship Type="http://schemas.openxmlformats.org/officeDocument/2006/relationships/image" Target="/ppt/media/image16.png" Id="Rd8d74347eab34d46" /><Relationship Type="http://schemas.openxmlformats.org/officeDocument/2006/relationships/notesSlide" Target="/ppt/notesSlides/notesSlide7.xml" Id="R71f4faefd10145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244cd135f430a" /><Relationship Type="http://schemas.openxmlformats.org/officeDocument/2006/relationships/image" Target="/ppt/media/image19.png" Id="Rc7146b62889849f4" /><Relationship Type="http://schemas.openxmlformats.org/officeDocument/2006/relationships/image" Target="/ppt/media/image7.png" Id="R4f1aec8b3ea04f62" /><Relationship Type="http://schemas.openxmlformats.org/officeDocument/2006/relationships/image" Target="/ppt/media/image8.png" Id="R1df665553e064532" /><Relationship Type="http://schemas.openxmlformats.org/officeDocument/2006/relationships/image" Target="/ppt/media/image21.png" Id="R1fbc74556b134faf" /><Relationship Type="http://schemas.openxmlformats.org/officeDocument/2006/relationships/image" Target="/ppt/media/image22.png" Id="R7f703ee72bf64210" /><Relationship Type="http://schemas.openxmlformats.org/officeDocument/2006/relationships/image" Target="/ppt/media/image23.png" Id="Re6e822458a974f07" /><Relationship Type="http://schemas.openxmlformats.org/officeDocument/2006/relationships/image" Target="/ppt/media/image24.png" Id="Rd3211aad6ae5430b" /><Relationship Type="http://schemas.openxmlformats.org/officeDocument/2006/relationships/image" Target="/ppt/media/image25.png" Id="R9c288aeed77743f1" /><Relationship Type="http://schemas.openxmlformats.org/officeDocument/2006/relationships/notesSlide" Target="/ppt/notesSlides/notesSlide8.xml" Id="Ra13a3a8e009144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90efc03284cc0" /><Relationship Type="http://schemas.openxmlformats.org/officeDocument/2006/relationships/image" Target="/ppt/media/image19.png" Id="Rf2a87ebea7104c89" /><Relationship Type="http://schemas.openxmlformats.org/officeDocument/2006/relationships/image" Target="/ppt/media/image7.png" Id="R59ba831b78b448d1" /><Relationship Type="http://schemas.openxmlformats.org/officeDocument/2006/relationships/image" Target="/ppt/media/image8.png" Id="R2cc93044e6d3446c" /><Relationship Type="http://schemas.openxmlformats.org/officeDocument/2006/relationships/notesSlide" Target="/ppt/notesSlides/notesSlide9.xml" Id="Ra2c735c22aa844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47e886fb4c1b" /><Relationship Type="http://schemas.openxmlformats.org/officeDocument/2006/relationships/image" Target="/ppt/media/image20.png" Id="R27ba42201b9e497b" /><Relationship Type="http://schemas.openxmlformats.org/officeDocument/2006/relationships/image" Target="/ppt/media/image26.png" Id="R7f69ef79dcac4191" /><Relationship Type="http://schemas.openxmlformats.org/officeDocument/2006/relationships/image" Target="/ppt/media/image7.png" Id="R53b7895971a64ab6" /><Relationship Type="http://schemas.openxmlformats.org/officeDocument/2006/relationships/image" Target="/ppt/media/image6.png" Id="R51bb171cd1e34e96" /><Relationship Type="http://schemas.openxmlformats.org/officeDocument/2006/relationships/image" Target="/ppt/media/image17.png" Id="Rd23f8708a055402d" /><Relationship Type="http://schemas.openxmlformats.org/officeDocument/2006/relationships/image" Target="/ppt/media/image27.png" Id="R8333c6c6a3414c4e" /><Relationship Type="http://schemas.openxmlformats.org/officeDocument/2006/relationships/notesSlide" Target="/ppt/notesSlides/notesSlide10.xml" Id="R2c83e89f1eec4c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7ce31fe07437a" /><Relationship Type="http://schemas.openxmlformats.org/officeDocument/2006/relationships/image" Target="/ppt/media/image9.png" Id="R3502d4d9aafd42cb" /><Relationship Type="http://schemas.openxmlformats.org/officeDocument/2006/relationships/image" Target="/ppt/media/image.png" Id="R559b32eb87b943e1" /><Relationship Type="http://schemas.openxmlformats.org/officeDocument/2006/relationships/notesSlide" Target="/ppt/notesSlides/notesSlide11.xml" Id="R93256940e1db44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3d6398a6345ed" /><Relationship Type="http://schemas.openxmlformats.org/officeDocument/2006/relationships/image" Target="/ppt/media/image.png" Id="Rf63ac116be2f4b8a" /><Relationship Type="http://schemas.openxmlformats.org/officeDocument/2006/relationships/notesSlide" Target="/ppt/notesSlides/notesSlide12.xml" Id="R748b5802393a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C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B6A1A748-C93B-4D7C-8C85-1A91ADA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56616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CB97FF07-11CD-40F4-81AE-58FEA8C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6616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B4FF429-130F-4740-B38E-CF01034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56616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D6391B33-374E-439D-A475-6664ED8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6732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3AB3C767-B986-4A44-B964-BE63CC8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76732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9C20E107-6B57-4EE7-85E0-6C58406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732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79EE213B-EFFF-464E-B68C-FF58934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68496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85700821-ACBB-4800-BF55-A863C8B8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968496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BFB4825F-6DD4-4592-A5AB-B0E44B1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968496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AFBE72AF-6FF8-4E2B-B4DA-112089A4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69664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9076930E-9D7C-4D6D-8202-1F945CB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169664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8B678DA0-C28E-4A93-A38A-4969C0AB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69664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23C41005-3BC7-459C-A2F2-F7DB444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1" name="Google Shape;2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ed89c483ef4c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BAB7DF7F-A6BF-4FE5-AB3B-34E2865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6692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FDB913"/>
                </a:solidFill>
                <a:latin typeface="Calibri"/>
                <a:ea typeface="Calibri"/>
                <a:cs typeface="Calibri"/>
              </a:rPr>
              <a:t>CYBER 207 · AI/ML FINAL PROJECT</a:t>
            </a: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FC47B5D4-C7F7-47AE-942E-38A6981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Tuned for the Track</a:t>
            </a: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69B6BAD5-4BCA-4C94-9FD8-9AEF67B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Detecting </a:t>
            </a:r>
            <a:r>
              <a:rPr sz="2000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000" b="0" i="0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II Before Prompts Leave the Gate</a:t>
            </a: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916CA065-DEE0-42BA-ABB2-EFF439F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1BA3E1D3-2958-46BF-BE83-BBE3E79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“Detect before you </a:t>
            </a:r>
            <a:r>
              <a:rPr sz="16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disclose</a:t>
            </a:r>
            <a:r>
              <a:rPr sz="16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.”</a:t>
            </a: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FF015750-1F0C-4932-B242-461DA8C3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3883775"/>
            <a:ext cx="5486400" cy="100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Alan Jiang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Aura Gaines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Brandon Shumack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Filip Dziembowski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DB2DC5BD-607D-4EC4-975D-F254393E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0777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39ADD00E-0CC0-47B8-9D1F-70A82245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06" name="Google Shape;6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fc6b0873cc4b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75A05048-BECD-4879-872A-6856FAFE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Why PII Detection Matters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10A78784-1A5F-4370-A5D7-821FB86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Sensitive text can reach an AI tool before anyone checks it.</a:t>
            </a:r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EEBD74C5-42B6-46C8-92E1-3817F13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A638158F-19F8-4995-AFEE-FDCD755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6596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11" name="Google Shape;7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fc6b0873cc4b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4949" y="207911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4" name="Google Shape;74;p5">
            <a:extLst xmlns:a="http://schemas.openxmlformats.org/drawingml/2006/main">
              <a:ext uri="{FF2B5EF4-FFF2-40B4-BE49-F238E27FC236}">
                <a16:creationId xmlns:a16="http://schemas.microsoft.com/office/drawing/2014/main" id="{1631990A-5E7C-4331-A74E-F167CBE3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78308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Names</a:t>
            </a:r>
          </a:p>
        </p:txBody>
      </p:sp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21807B3E-4928-4837-B95B-92822372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78308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EA24B6A4-1B31-4427-A849-FF193B0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96596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15" name="Google Shape;7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79e5e07b914b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23869" y="207911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D08106D8-A891-4D30-8552-238ACEF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Emails</a:t>
            </a:r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F8BADEC2-0BF0-4432-A8EA-4A90E43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8308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5F669958-2A82-4356-9245-7092DF3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96596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19" name="Google Shape;8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5204c662cb46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2789" y="207911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2" name="Google Shape;82;p5">
            <a:extLst xmlns:a="http://schemas.openxmlformats.org/drawingml/2006/main">
              <a:ext uri="{FF2B5EF4-FFF2-40B4-BE49-F238E27FC236}">
                <a16:creationId xmlns:a16="http://schemas.microsoft.com/office/drawing/2014/main" id="{5CE46351-5CAB-441D-885D-572ACC49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Phone numbers</a:t>
            </a:r>
          </a:p>
        </p:txBody>
      </p:sp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B547496D-AB64-42A4-8678-68432C8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4" name="Google Shape;84;p5">
            <a:extLst xmlns:a="http://schemas.openxmlformats.org/drawingml/2006/main">
              <a:ext uri="{FF2B5EF4-FFF2-40B4-BE49-F238E27FC236}">
                <a16:creationId xmlns:a16="http://schemas.microsoft.com/office/drawing/2014/main" id="{014E7DF8-9FA9-4601-95B4-17927B6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1752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23" name="Google Shape;85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633e00c1904e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4949" y="313067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9FCF23A6-45C7-4018-9FD8-34957B3E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83464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Addresses</a:t>
            </a: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5FA79EED-AFC8-4B00-8771-A207278C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83464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D47394BF-F3AD-4302-A076-0D69FC9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01752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27" name="Google Shape;8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4abb84be9b42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23869" y="313067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02A74E28-EDDC-4CAF-A0C4-AB16A01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83464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ID / account numbers</a:t>
            </a: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458FFAE2-A0F1-455B-A6C5-A860266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2560200" cy="8688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F2DE4E8C-2092-4AB9-A72E-48009AF9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01752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1" name="Google Shape;9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672d6f26647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2789" y="313067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9A5C34ED-0236-4AA7-B200-7A01605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4640"/>
            <a:ext cx="1645800" cy="8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...and more</a:t>
            </a: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BB94C990-9C77-4F2C-9090-EBD64ED0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5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892B382-52B8-4BDF-9E80-52D0B568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900" cy="5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 prompting and agentic workflows grow, sensitive text can leave the gate before anyone notices.</a:t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4743BE60-EFD7-444C-A033-847E4AD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2649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ED501993-B49F-43C7-89E6-1CDDBEDA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21" name="Google Shape;10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ed9cca8a6c49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F4296D5E-E883-43D4-9BF4-9FD2AD1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The Dataset Defined the Decision</a:t>
            </a: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CBB67C25-3E18-43D5-910C-EAAE680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4114800" cy="16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buChar char="●"/>
            </a:pPr>
            <a:r>
              <a:rPr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AI4Privacy provides multilingual text with token-level PII labels</a:t>
            </a:r>
          </a:p>
          <a:p xmlns:a="http://schemas.openxmlformats.org/drawingml/2006/main">
            <a:pPr marL="22" indent="-12">
              <a:spcBef>
                <a:spcPts val="10"/>
              </a:spcBef>
              <a:buChar char="●"/>
            </a:pPr>
            <a:r>
              <a:rPr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single row can contain several different PII types</a:t>
            </a:r>
          </a:p>
          <a:p xmlns:a="http://schemas.openxmlformats.org/drawingml/2006/main">
            <a:pPr marL="22" indent="-12">
              <a:spcBef>
                <a:spcPts val="10"/>
              </a:spcBef>
              <a:buChar char="●"/>
            </a:pPr>
            <a:r>
              <a:rPr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 collapsed those annotations into one allow-or-review flag</a:t>
            </a:r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2186186C-85CA-470C-8C67-570CE773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234440"/>
            <a:ext cx="1920300" cy="1645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C7D05010-FABE-4CB2-9D30-9AB958F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371600"/>
            <a:ext cx="1920300" cy="82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200" b="1" i="0" u="none" cap="none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04740DB5-0956-4E78-8ECB-A8B113E6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86000"/>
            <a:ext cx="19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75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PII spans in one synthetic row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9205AE54-38EF-4E29-B405-B12A4BE1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234440"/>
            <a:ext cx="1920300" cy="1645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DD784FA6-4161-4C7A-86A8-3DFF3460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371600"/>
            <a:ext cx="1920300" cy="82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200" b="1" i="0" u="none" cap="none">
                <a:solidFill>
                  <a:srgbClr val="C810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436B4799-9C84-4E75-AFC8-54C345C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86000"/>
            <a:ext cx="19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75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Document flag: privacy-sensitive</a:t>
            </a:r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465A1FF4-3FF3-4147-B1CD-6405C88F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12345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210E0BB5-AF6F-4386-BAE7-3C85F9EE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64992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2" name="Google Shape;11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e4d83d2c2a4a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3237" y="3478149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C04498A9-D066-4BBC-A792-F076972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46120"/>
            <a:ext cx="7178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350" i="1">
                <a:solidFill>
                  <a:srgbClr val="FCF6F5"/>
                </a:solidFill>
                <a:latin typeface="Cambria"/>
                <a:ea typeface="Cambria"/>
                <a:cs typeface="Cambria"/>
              </a:defRPr>
            </a:pPr>
            <a:r>
              <a:rPr sz="1350" i="1">
                <a:solidFill>
                  <a:srgbClr val="FCF6F5"/>
                </a:solidFill>
                <a:latin typeface="Cambria"/>
                <a:ea typeface="Cambria"/>
                <a:cs typeface="Cambria"/>
              </a:rPr>
              <a:t>Synthetic example: “My child faozzsd379223 (DOB: May/58)… ZIP 28170-6392… Email faozzsd379223@outlook.com.”</a:t>
            </a:r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0962206A-B603-4BEF-9AE9-96A9719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9255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8368D92A-47B9-45BC-B869-BE513530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4" name="Google Shape;14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ac168eb4e643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77458BED-FE91-401D-AF80-CF718C3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The Question and Our Bet</a:t>
            </a:r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0305C3DC-7553-4EE0-9DB3-B87B6A7E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114800" cy="219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Research question</a:t>
            </a:r>
          </a:p>
          <a:p xmlns:a="http://schemas.openxmlformats.org/drawingml/2006/main">
            <a:r>
              <a:rPr sz="14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How accurately and efficiently can specialized models screen text before it reaches an external LLM, compared with a general-purpose LLM?</a:t>
            </a:r>
          </a:p>
          <a:p xmlns:a="http://schemas.openxmlformats.org/drawingml/2006/main">
            <a:pPr>
              <a:spcBef>
                <a:spcPts val="10"/>
              </a:spcBef>
            </a:pPr>
            <a:r>
              <a:rPr sz="1200" b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Hypothesis</a:t>
            </a:r>
          </a:p>
          <a:p xmlns:a="http://schemas.openxmlformats.org/drawingml/2006/main">
            <a:r>
              <a:rPr sz="135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 trained for this task will outperform prompted Phi-4 on PII detection and response time.</a:t>
            </a:r>
          </a:p>
        </p:txBody>
      </p:sp>
      <p:sp>
        <p:nvSpPr>
          <p:cNvPr id="148" name="Google Shape;148;p8">
            <a:extLst xmlns:a="http://schemas.openxmlformats.org/drawingml/2006/main">
              <a:ext uri="{FF2B5EF4-FFF2-40B4-BE49-F238E27FC236}">
                <a16:creationId xmlns:a16="http://schemas.microsoft.com/office/drawing/2014/main" id="{47A8F7AB-4EBF-4DCB-8B7D-6BD82822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188720"/>
            <a:ext cx="1965900" cy="31089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8">
            <a:extLst xmlns:a="http://schemas.openxmlformats.org/drawingml/2006/main">
              <a:ext uri="{FF2B5EF4-FFF2-40B4-BE49-F238E27FC236}">
                <a16:creationId xmlns:a16="http://schemas.microsoft.com/office/drawing/2014/main" id="{18FA0946-2691-4A27-9403-C1B8E289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17320"/>
            <a:ext cx="640200" cy="64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9" name="Google Shape;15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a04808eac149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44718" y="156133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p8">
            <a:extLst xmlns:a="http://schemas.openxmlformats.org/drawingml/2006/main">
              <a:ext uri="{FF2B5EF4-FFF2-40B4-BE49-F238E27FC236}">
                <a16:creationId xmlns:a16="http://schemas.microsoft.com/office/drawing/2014/main" id="{5CA2D29F-3E25-4959-B1CB-7B55C7E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148840"/>
            <a:ext cx="196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FERRARI</a:t>
            </a:r>
          </a:p>
        </p:txBody>
      </p:sp>
      <p:sp>
        <p:nvSpPr>
          <p:cNvPr id="152" name="Google Shape;152;p8">
            <a:extLst xmlns:a="http://schemas.openxmlformats.org/drawingml/2006/main">
              <a:ext uri="{FF2B5EF4-FFF2-40B4-BE49-F238E27FC236}">
                <a16:creationId xmlns:a16="http://schemas.microsoft.com/office/drawing/2014/main" id="{1DD7A636-08BE-4E02-ADDF-F5CCD9A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468880"/>
            <a:ext cx="19659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Task-specific</a:t>
            </a:r>
          </a:p>
        </p:txBody>
      </p:sp>
      <p:sp>
        <p:nvSpPr>
          <p:cNvPr id="153" name="Google Shape;153;p8">
            <a:extLst xmlns:a="http://schemas.openxmlformats.org/drawingml/2006/main">
              <a:ext uri="{FF2B5EF4-FFF2-40B4-BE49-F238E27FC236}">
                <a16:creationId xmlns:a16="http://schemas.microsoft.com/office/drawing/2014/main" id="{AFFF019E-9442-4764-94EB-3E37BD5D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80360"/>
            <a:ext cx="1691700" cy="128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Trained for this task</a:t>
            </a:r>
          </a:p>
          <a:p xmlns:a="http://schemas.openxmlformats.org/drawingml/2006/main">
            <a:pPr marL="342900" indent="-342900" algn="l">
              <a:spcBef>
                <a:spcPts val="40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Sparse or contextual inputs</a:t>
            </a:r>
          </a:p>
          <a:p xmlns:a="http://schemas.openxmlformats.org/drawingml/2006/main">
            <a:pPr marL="342900" indent="-342900" algn="l">
              <a:spcBef>
                <a:spcPts val="40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Validation-checked operating point</a:t>
            </a:r>
          </a:p>
        </p:txBody>
      </p:sp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E0B336EB-1ED9-4AA5-B55A-0F0E6FF5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188720"/>
            <a:ext cx="1965900" cy="31089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86EF7C82-F43E-4FB1-BFD2-8DCC73D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1417320"/>
            <a:ext cx="640200" cy="64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" name="Google Shape;156;p8">
            <a:extLst xmlns:a="http://schemas.openxmlformats.org/drawingml/2006/main">
              <a:ext uri="{FF2B5EF4-FFF2-40B4-BE49-F238E27FC236}">
                <a16:creationId xmlns:a16="http://schemas.microsoft.com/office/drawing/2014/main" id="{AD7E878B-5C97-45CE-B55E-2866856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48840"/>
            <a:ext cx="196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FORD</a:t>
            </a:r>
          </a:p>
        </p:txBody>
      </p:sp>
      <p:sp>
        <p:nvSpPr>
          <p:cNvPr id="157" name="Google Shape;157;p8">
            <a:extLst xmlns:a="http://schemas.openxmlformats.org/drawingml/2006/main">
              <a:ext uri="{FF2B5EF4-FFF2-40B4-BE49-F238E27FC236}">
                <a16:creationId xmlns:a16="http://schemas.microsoft.com/office/drawing/2014/main" id="{60C5B56D-8302-4F34-9602-2463D436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68880"/>
            <a:ext cx="19659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General-purpose</a:t>
            </a:r>
          </a:p>
        </p:txBody>
      </p:sp>
      <p:sp>
        <p:nvSpPr>
          <p:cNvPr id="158" name="Google Shape;158;p8">
            <a:extLst xmlns:a="http://schemas.openxmlformats.org/drawingml/2006/main">
              <a:ext uri="{FF2B5EF4-FFF2-40B4-BE49-F238E27FC236}">
                <a16:creationId xmlns:a16="http://schemas.microsoft.com/office/drawing/2014/main" id="{215C10B7-0474-4D1F-AD9C-050FB5B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0360"/>
            <a:ext cx="1691700" cy="128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Prompted, not fine-tuned</a:t>
            </a:r>
          </a:p>
          <a:p xmlns:a="http://schemas.openxmlformats.org/drawingml/2006/main">
            <a:pPr marL="342900" indent="-342900" algn="l">
              <a:spcBef>
                <a:spcPts val="40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Broad language capability</a:t>
            </a:r>
          </a:p>
          <a:p xmlns:a="http://schemas.openxmlformats.org/drawingml/2006/main">
            <a:pPr marL="342900" indent="-342900" algn="l">
              <a:spcBef>
                <a:spcPts val="400"/>
              </a:spcBef>
              <a:spcAft>
                <a:spcPts val="0"/>
              </a:spcAft>
              <a:buChar char="●"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task-specific training</a:t>
            </a:r>
          </a:p>
        </p:txBody>
      </p:sp>
      <p:sp>
        <p:nvSpPr>
          <p:cNvPr id="159" name="Google Shape;159;p8">
            <a:extLst xmlns:a="http://schemas.openxmlformats.org/drawingml/2006/main">
              <a:ext uri="{FF2B5EF4-FFF2-40B4-BE49-F238E27FC236}">
                <a16:creationId xmlns:a16="http://schemas.microsoft.com/office/drawing/2014/main" id="{EB4BFEDC-C7D5-4C84-9291-1117C16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179" name="Google Shape;16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dcda5cdae44f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84998" y="156133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32112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DE087EAE-4EDF-4CC8-BF3B-C07E2674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8" name="Google Shape;4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dcb173a7404d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3F5E93B9-2457-4765-8BCD-DDE411B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Four Models Enter the Race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6B849A68-D18F-4591-A4EA-8D977839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206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Ford v. Ferrari, replayed as a model bake-off.</a:t>
            </a:r>
          </a:p>
          <a:p xmlns:a="http://schemas.openxmlformats.org/drawingml/2006/main">
            <a:r>
              <a:rPr sz="17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Each approach solves the same screening decision, but brings a different engine: sparse features, a neural network, contextual fine-tuning, or a prompted LLM.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B78A1DDD-2BFB-446D-9FEB-1EC29C0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4206300" cy="14172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AA76819F-E8BE-4634-95A2-5D766D7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3840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8102E"/>
                </a:solidFill>
                <a:latin typeface="Cambria"/>
                <a:ea typeface="Cambria"/>
                <a:cs typeface="Cambria"/>
              </a:rPr>
              <a:t>Race question</a:t>
            </a:r>
          </a:p>
          <a:p xmlns:a="http://schemas.openxmlformats.org/drawingml/2006/main">
            <a:r>
              <a:rPr sz="1500" i="1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Does the biggest model win?</a:t>
            </a:r>
          </a:p>
          <a:p xmlns:a="http://schemas.openxmlformats.org/drawingml/2006/main">
            <a:r>
              <a:rPr sz="1500" i="1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Or the model tuned for this track?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B2B2A6A2-8D5F-4FAD-B810-09C31A9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188720"/>
            <a:ext cx="37491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Four cars on the track today: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12491B8B-68B8-4BE2-A8BB-FD68CB32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0020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5" name="Google Shape;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f4f93d1efd4f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0917" y="171335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F00FFC7F-A663-4ACF-A324-4FFA00D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600200"/>
            <a:ext cx="31089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Classical ML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C09FC42C-9B61-48EA-9169-2D875F1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37744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CB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8" name="Google Shape;5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52d63e01f444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0917" y="249059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D44DCF04-8AE4-4703-9962-851BE2A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377440"/>
            <a:ext cx="31089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Neural Network</a:t>
            </a: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0CCB9440-2107-4D67-9FD4-9AB5DC0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5468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B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1" name="Google Shape;5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4b181493124c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0917" y="326783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39A152C2-0F91-4681-803D-59FA9AF7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154680"/>
            <a:ext cx="31089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55692CED-B110-4700-AB74-16C3ECF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93192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4" name="Google Shape;5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c2ad1676fb4c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0917" y="4045077"/>
            <a:ext cx="276606" cy="2766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D3C22D23-8F24-48A7-90A7-2AF4ECDE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931920"/>
            <a:ext cx="31089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Phi-4 (LLM baseline)</a:t>
            </a:r>
          </a:p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745988DE-C43E-4053-A799-8E0E575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53503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5F766541-BF30-4A01-A19F-3EC1B79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41" name="Google Shape;1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89ac854a0b44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59081FD9-9C51-4CFC-97F1-D2A5801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One Dataset, One Frozen Split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18145723-77A2-40FE-99EE-93B0486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66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350" b="0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Source: AI4Privacy PII-Masking-400k</a:t>
            </a:r>
          </a:p>
          <a:p xmlns:a="http://schemas.openxmlformats.org/drawingml/2006/main">
            <a:pPr marL="342900" indent="-342900" algn="l">
              <a:spcBef>
                <a:spcPts val="900"/>
              </a:spcBef>
              <a:spcAft>
                <a:spcPts val="0"/>
              </a:spcAft>
              <a:buChar char="●"/>
            </a:pPr>
            <a:r>
              <a:rPr sz="135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Originally token-level PII labels, not binary and not an LLM-prompt dataset</a:t>
            </a:r>
          </a:p>
          <a:p xmlns:a="http://schemas.openxmlformats.org/drawingml/2006/main">
            <a:pPr marL="342900" indent="-342900" algn="l">
              <a:spcBef>
                <a:spcPts val="900"/>
              </a:spcBef>
              <a:spcAft>
                <a:spcPts val="0"/>
              </a:spcAft>
              <a:buChar char="●"/>
            </a:pPr>
            <a:r>
              <a:rPr sz="1350" b="0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Collapsed to document-level: any PII token → Label 1, else Label 0</a:t>
            </a:r>
          </a:p>
          <a:p xmlns:a="http://schemas.openxmlformats.org/drawingml/2006/main">
            <a:pPr marL="342900" indent="-342900" algn="l">
              <a:spcBef>
                <a:spcPts val="900"/>
              </a:spcBef>
              <a:spcAft>
                <a:spcPts val="0"/>
              </a:spcAft>
              <a:buChar char="●"/>
            </a:pPr>
            <a:r>
              <a:rPr sz="1350" b="0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Cleaning: removed 6 blank rows and 88 remaining exact duplicates; resplit with seed 42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C1DBE4DC-206D-42B4-9106-2FF6C15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188720"/>
            <a:ext cx="3291900" cy="7131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E5258034-831B-4622-92B0-819D390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243584"/>
            <a:ext cx="3017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Cleaned size</a:t>
            </a: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3989731C-B66E-4577-A041-A505964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499616"/>
            <a:ext cx="30174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C8102E"/>
                </a:solidFill>
                <a:latin typeface="Cambria"/>
                <a:ea typeface="Cambria"/>
                <a:cs typeface="Cambria"/>
              </a:rPr>
              <a:t>325,423</a:t>
            </a: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B52FC0D5-4F19-4897-8122-0873C5F4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57400"/>
            <a:ext cx="3291900" cy="7131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C05BD577-79E1-4EFE-8BB1-DB0661F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112264"/>
            <a:ext cx="3017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Class balance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7228949D-171E-4802-8D4F-6D80C53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68296"/>
            <a:ext cx="30174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C8102E"/>
                </a:solidFill>
                <a:latin typeface="Cambria"/>
                <a:ea typeface="Cambria"/>
                <a:cs typeface="Cambria"/>
              </a:rPr>
              <a:t>67.4% PII / 32.6% safe</a:t>
            </a: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71533998-5405-429D-93B1-E93DDDDC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926080"/>
            <a:ext cx="3291900" cy="7131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dist="25400" dir="2700000" algn="bl" rotWithShape="0">
              <a:srgbClr val="000000">
                <a:alpha val="102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5F7124E2-B80D-47A5-B79B-4C6FE18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80944"/>
            <a:ext cx="30174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Train / Val / Test</a:t>
            </a: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7B516073-2472-4FC0-93A9-46DCB3D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36976"/>
            <a:ext cx="30174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C8102E"/>
                </a:solidFill>
                <a:latin typeface="Cambria"/>
                <a:ea typeface="Cambria"/>
                <a:cs typeface="Cambria"/>
              </a:rPr>
              <a:t>260,338 / 32,542 / 32,543</a:t>
            </a: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8FB85BB0-4BE7-4060-8A15-EEF39F4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20AB64B1-734B-43A6-8729-E378D82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786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Race Rules: trained models use the frozen split. Phi-4 uses a stratified 3,000-example test subset. We compare PII precision, recall, F1, macro F1, and confusion matrices.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D2B3AAD3-A9CC-455A-BB87-F056EE9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2851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EC05FFD6-12CE-4F3E-9BAC-C722E9E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35" name="Google Shape;20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756c60a5ee42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A750E9EC-FC1E-4550-94AA-4495697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How Classical ML and the MLP Saw Text</a:t>
            </a: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1CF1B3C9-EE99-4B6D-9054-FBF6961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5394900" cy="5943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62E41C05-1A00-437B-A56B-1B8E899B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52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39" name="Google Shape;20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c6656ac8d047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9798" y="1355598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22E563B9-61EC-4BFF-A6D2-BED54F4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88720"/>
            <a:ext cx="18288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TF-IDF features</a:t>
            </a:r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22EB780C-524F-4E6B-AA0A-E3A66A0B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188720"/>
            <a:ext cx="27432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50,000 lowercase unigram + bigram features</a:t>
            </a:r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39F5F27A-1343-45C5-AB59-16D532C2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1952"/>
            <a:ext cx="5394900" cy="5943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8" name="Google Shape;208;p10">
            <a:extLst xmlns:a="http://schemas.openxmlformats.org/drawingml/2006/main">
              <a:ext uri="{FF2B5EF4-FFF2-40B4-BE49-F238E27FC236}">
                <a16:creationId xmlns:a16="http://schemas.microsoft.com/office/drawing/2014/main" id="{D1E2D2EF-8D51-404C-8445-88021A3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44" name="Google Shape;20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c5081508384f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9798" y="206883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0" name="Google Shape;210;p10">
            <a:extLst xmlns:a="http://schemas.openxmlformats.org/drawingml/2006/main">
              <a:ext uri="{FF2B5EF4-FFF2-40B4-BE49-F238E27FC236}">
                <a16:creationId xmlns:a16="http://schemas.microsoft.com/office/drawing/2014/main" id="{2A9B31F8-5E50-4514-9804-EAE3A4E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01952"/>
            <a:ext cx="18288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 features</a:t>
            </a:r>
          </a:p>
        </p:txBody>
      </p:sp>
      <p:sp>
        <p:nvSpPr>
          <p:cNvPr id="211" name="Google Shape;211;p10">
            <a:extLst xmlns:a="http://schemas.openxmlformats.org/drawingml/2006/main">
              <a:ext uri="{FF2B5EF4-FFF2-40B4-BE49-F238E27FC236}">
                <a16:creationId xmlns:a16="http://schemas.microsoft.com/office/drawing/2014/main" id="{9EF4BBAD-37E8-4AB8-AFE8-34ED044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901952"/>
            <a:ext cx="27432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10 text-shape features: length, digits, punctuation, HTML, and more</a:t>
            </a:r>
          </a:p>
        </p:txBody>
      </p:sp>
      <p:sp>
        <p:nvSpPr>
          <p:cNvPr id="212" name="Google Shape;212;p10">
            <a:extLst xmlns:a="http://schemas.openxmlformats.org/drawingml/2006/main">
              <a:ext uri="{FF2B5EF4-FFF2-40B4-BE49-F238E27FC236}">
                <a16:creationId xmlns:a16="http://schemas.microsoft.com/office/drawing/2014/main" id="{D9A400D3-EAC9-4FBA-A688-098D6E6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5184"/>
            <a:ext cx="5394900" cy="5943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" name="Google Shape;213;p10">
            <a:extLst xmlns:a="http://schemas.openxmlformats.org/drawingml/2006/main">
              <a:ext uri="{FF2B5EF4-FFF2-40B4-BE49-F238E27FC236}">
                <a16:creationId xmlns:a16="http://schemas.microsoft.com/office/drawing/2014/main" id="{B029575E-724A-4A55-AA94-F78FD7DD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91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49" name="Google Shape;21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404273591c40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9798" y="2782062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5" name="Google Shape;215;p10">
            <a:extLst xmlns:a="http://schemas.openxmlformats.org/drawingml/2006/main">
              <a:ext uri="{FF2B5EF4-FFF2-40B4-BE49-F238E27FC236}">
                <a16:creationId xmlns:a16="http://schemas.microsoft.com/office/drawing/2014/main" id="{CE0BB850-5496-46F6-8B90-73B527C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15184"/>
            <a:ext cx="18288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Pattern / regex features</a:t>
            </a:r>
          </a:p>
        </p:txBody>
      </p:sp>
      <p:sp>
        <p:nvSpPr>
          <p:cNvPr id="216" name="Google Shape;216;p10">
            <a:extLst xmlns:a="http://schemas.openxmlformats.org/drawingml/2006/main">
              <a:ext uri="{FF2B5EF4-FFF2-40B4-BE49-F238E27FC236}">
                <a16:creationId xmlns:a16="http://schemas.microsoft.com/office/drawing/2014/main" id="{7BBB9BB6-4E0B-4670-B5C4-40D3EEE1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15184"/>
            <a:ext cx="27432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8 flags: email, phone, URL, IP, dates, IDs, and more</a:t>
            </a:r>
          </a:p>
        </p:txBody>
      </p:sp>
      <p:sp>
        <p:nvSpPr>
          <p:cNvPr id="217" name="Google Shape;217;p10">
            <a:extLst xmlns:a="http://schemas.openxmlformats.org/drawingml/2006/main">
              <a:ext uri="{FF2B5EF4-FFF2-40B4-BE49-F238E27FC236}">
                <a16:creationId xmlns:a16="http://schemas.microsoft.com/office/drawing/2014/main" id="{4898126D-4992-4247-9403-894F6E11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8416"/>
            <a:ext cx="5394900" cy="5943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8" name="Google Shape;218;p10">
            <a:extLst xmlns:a="http://schemas.openxmlformats.org/drawingml/2006/main">
              <a:ext uri="{FF2B5EF4-FFF2-40B4-BE49-F238E27FC236}">
                <a16:creationId xmlns:a16="http://schemas.microsoft.com/office/drawing/2014/main" id="{FF87E3F6-8B8B-48FE-8B07-7B69507D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92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54" name="Google Shape;21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15cd8d471e45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9798" y="3495294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0" name="Google Shape;220;p10">
            <a:extLst xmlns:a="http://schemas.openxmlformats.org/drawingml/2006/main">
              <a:ext uri="{FF2B5EF4-FFF2-40B4-BE49-F238E27FC236}">
                <a16:creationId xmlns:a16="http://schemas.microsoft.com/office/drawing/2014/main" id="{98828BF6-D5E8-4A89-96D2-6193444D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28416"/>
            <a:ext cx="18288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Combined feature set</a:t>
            </a:r>
          </a:p>
        </p:txBody>
      </p:sp>
      <p:sp>
        <p:nvSpPr>
          <p:cNvPr id="221" name="Google Shape;221;p10">
            <a:extLst xmlns:a="http://schemas.openxmlformats.org/drawingml/2006/main">
              <a:ext uri="{FF2B5EF4-FFF2-40B4-BE49-F238E27FC236}">
                <a16:creationId xmlns:a16="http://schemas.microsoft.com/office/drawing/2014/main" id="{1766C84F-638F-496F-A7AF-35AB97C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28416"/>
            <a:ext cx="2743200" cy="59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50,018 total features; fitted and scaled on training only</a:t>
            </a:r>
          </a:p>
        </p:txBody>
      </p:sp>
      <p:sp>
        <p:nvSpPr>
          <p:cNvPr id="222" name="Google Shape;222;p10">
            <a:extLst xmlns:a="http://schemas.openxmlformats.org/drawingml/2006/main">
              <a:ext uri="{FF2B5EF4-FFF2-40B4-BE49-F238E27FC236}">
                <a16:creationId xmlns:a16="http://schemas.microsoft.com/office/drawing/2014/main" id="{E1A48D4E-6429-4581-9BA9-71B2387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188720"/>
            <a:ext cx="2606100" cy="28347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10">
            <a:extLst xmlns:a="http://schemas.openxmlformats.org/drawingml/2006/main">
              <a:ext uri="{FF2B5EF4-FFF2-40B4-BE49-F238E27FC236}">
                <a16:creationId xmlns:a16="http://schemas.microsoft.com/office/drawing/2014/main" id="{E3EFC6FA-7396-4498-86A6-B01C74AB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6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59" name="Google Shape;22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d74347eab34d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12230" y="147447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5" name="Google Shape;225;p10">
            <a:extLst xmlns:a="http://schemas.openxmlformats.org/drawingml/2006/main">
              <a:ext uri="{FF2B5EF4-FFF2-40B4-BE49-F238E27FC236}">
                <a16:creationId xmlns:a16="http://schemas.microsoft.com/office/drawing/2014/main" id="{A4F841BF-086B-4E03-B052-B4A0D36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22404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Feature ablation result</a:t>
            </a:r>
          </a:p>
        </p:txBody>
      </p:sp>
      <p:sp>
        <p:nvSpPr>
          <p:cNvPr id="226" name="Google Shape;226;p10">
            <a:extLst xmlns:a="http://schemas.openxmlformats.org/drawingml/2006/main">
              <a:ext uri="{FF2B5EF4-FFF2-40B4-BE49-F238E27FC236}">
                <a16:creationId xmlns:a16="http://schemas.microsoft.com/office/drawing/2014/main" id="{A71E322E-CD9E-4835-BDEE-F135EA51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40400" cy="14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FCF6F5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Combined features raised Logistic Regression PII F1 from 0.868 to 0.881 and reduced false negatives from 2,066 to 1,841.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FCF6F5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DistilBERT and Phi-4 used text directly, not this matrix.</a:t>
            </a:r>
          </a:p>
        </p:txBody>
      </p:sp>
      <p:sp>
        <p:nvSpPr>
          <p:cNvPr id="227" name="Google Shape;227;p10">
            <a:extLst xmlns:a="http://schemas.openxmlformats.org/drawingml/2006/main">
              <a:ext uri="{FF2B5EF4-FFF2-40B4-BE49-F238E27FC236}">
                <a16:creationId xmlns:a16="http://schemas.microsoft.com/office/drawing/2014/main" id="{CBC85943-F419-4CE3-B15B-D1CB55C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456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" name="Google Shape;233;p11">
            <a:extLst xmlns:a="http://schemas.openxmlformats.org/drawingml/2006/main">
              <a:ext uri="{FF2B5EF4-FFF2-40B4-BE49-F238E27FC236}">
                <a16:creationId xmlns:a16="http://schemas.microsoft.com/office/drawing/2014/main" id="{EC113EDC-996B-4800-B085-EFBD809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3" name="Google Shape;23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146b62889849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5" name="Google Shape;235;p11">
            <a:extLst xmlns:a="http://schemas.openxmlformats.org/drawingml/2006/main">
              <a:ext uri="{FF2B5EF4-FFF2-40B4-BE49-F238E27FC236}">
                <a16:creationId xmlns:a16="http://schemas.microsoft.com/office/drawing/2014/main" id="{F99312FD-37B2-461D-B6E1-E87067E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Who Won the Race?</a:t>
            </a:r>
          </a:p>
        </p:txBody>
      </p:sp>
      <p:sp>
        <p:nvSpPr>
          <p:cNvPr id="237" name="Google Shape;237;p11">
            <a:extLst xmlns:a="http://schemas.openxmlformats.org/drawingml/2006/main">
              <a:ext uri="{FF2B5EF4-FFF2-40B4-BE49-F238E27FC236}">
                <a16:creationId xmlns:a16="http://schemas.microsoft.com/office/drawing/2014/main" id="{2AA0A085-5F76-4C21-8CA6-6F33A33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39777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11">
            <a:extLst xmlns:a="http://schemas.openxmlformats.org/drawingml/2006/main">
              <a:ext uri="{FF2B5EF4-FFF2-40B4-BE49-F238E27FC236}">
                <a16:creationId xmlns:a16="http://schemas.microsoft.com/office/drawing/2014/main" id="{E53FD7C1-9566-4579-83F2-F8A4357E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7" name="Google Shape;23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1aec8b3ea04f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62" y="339471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0" name="Google Shape;240;p11">
            <a:extLst xmlns:a="http://schemas.openxmlformats.org/drawingml/2006/main">
              <a:ext uri="{FF2B5EF4-FFF2-40B4-BE49-F238E27FC236}">
                <a16:creationId xmlns:a16="http://schemas.microsoft.com/office/drawing/2014/main" id="{74D7533B-D72A-44A0-A3CA-F2634DC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00400"/>
            <a:ext cx="3017400" cy="11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PII recall is the security priority. PII F1 balances detection with the false alarms a real tool would create.</a:t>
            </a:r>
          </a:p>
        </p:txBody>
      </p:sp>
      <p:sp>
        <p:nvSpPr>
          <p:cNvPr id="241" name="Google Shape;241;p11">
            <a:extLst xmlns:a="http://schemas.openxmlformats.org/drawingml/2006/main">
              <a:ext uri="{FF2B5EF4-FFF2-40B4-BE49-F238E27FC236}">
                <a16:creationId xmlns:a16="http://schemas.microsoft.com/office/drawing/2014/main" id="{CC1425C9-4376-4C1E-9466-0DC8F7DD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08960"/>
            <a:ext cx="39777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11">
            <a:extLst xmlns:a="http://schemas.openxmlformats.org/drawingml/2006/main">
              <a:ext uri="{FF2B5EF4-FFF2-40B4-BE49-F238E27FC236}">
                <a16:creationId xmlns:a16="http://schemas.microsoft.com/office/drawing/2014/main" id="{E9DC0608-D091-49E6-825E-9DF8F31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291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1" name="Google Shape;24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f665553e0645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76622" y="339471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4" name="Google Shape;244;p11">
            <a:extLst xmlns:a="http://schemas.openxmlformats.org/drawingml/2006/main">
              <a:ext uri="{FF2B5EF4-FFF2-40B4-BE49-F238E27FC236}">
                <a16:creationId xmlns:a16="http://schemas.microsoft.com/office/drawing/2014/main" id="{66676B64-5859-4F82-9362-8D68475E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0400"/>
            <a:ext cx="3017400" cy="11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 leads. *Phi-4 ran 3,000 rows; the other models ran the full 32,543-row test set.</a:t>
            </a:r>
          </a:p>
        </p:txBody>
      </p:sp>
      <p:sp>
        <p:nvSpPr>
          <p:cNvPr id="245" name="Google Shape;245;p11">
            <a:extLst xmlns:a="http://schemas.openxmlformats.org/drawingml/2006/main">
              <a:ext uri="{FF2B5EF4-FFF2-40B4-BE49-F238E27FC236}">
                <a16:creationId xmlns:a16="http://schemas.microsoft.com/office/drawing/2014/main" id="{F53469B6-03FF-4884-94B9-15804F86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50" name="track-line-Logistic Regression">
            <a:extLst xmlns:a="http://schemas.openxmlformats.org/drawingml/2006/main">
              <a:ext uri="{FF2B5EF4-FFF2-40B4-BE49-F238E27FC236}">
                <a16:creationId xmlns:a16="http://schemas.microsoft.com/office/drawing/2014/main" id="{1F16AFEC-F488-4C69-ABA3-92432E8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57325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9A9A9"/>
            </a:solidFill>
            <a:prstDash val="solid"/>
          </a:ln>
        </p:spPr>
      </p:sp>
      <p:sp>
        <p:nvSpPr>
          <p:cNvPr id="251" name="track-line-MLP (t=0.02)">
            <a:extLst xmlns:a="http://schemas.openxmlformats.org/drawingml/2006/main">
              <a:ext uri="{FF2B5EF4-FFF2-40B4-BE49-F238E27FC236}">
                <a16:creationId xmlns:a16="http://schemas.microsoft.com/office/drawing/2014/main" id="{E9CB04AA-834B-4537-A5A6-0E6D9CC2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9A9A9"/>
            </a:solidFill>
            <a:prstDash val="solid"/>
          </a:ln>
        </p:spPr>
      </p:sp>
      <p:sp>
        <p:nvSpPr>
          <p:cNvPr id="252" name="track-line-DistilBERT">
            <a:extLst xmlns:a="http://schemas.openxmlformats.org/drawingml/2006/main">
              <a:ext uri="{FF2B5EF4-FFF2-40B4-BE49-F238E27FC236}">
                <a16:creationId xmlns:a16="http://schemas.microsoft.com/office/drawing/2014/main" id="{5715459A-2202-4CBB-AB18-FC7D3474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38375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9A9A9"/>
            </a:solidFill>
            <a:prstDash val="solid"/>
          </a:ln>
        </p:spPr>
      </p:sp>
      <p:sp>
        <p:nvSpPr>
          <p:cNvPr id="253" name="track-line-Phi-4*">
            <a:extLst xmlns:a="http://schemas.openxmlformats.org/drawingml/2006/main">
              <a:ext uri="{FF2B5EF4-FFF2-40B4-BE49-F238E27FC236}">
                <a16:creationId xmlns:a16="http://schemas.microsoft.com/office/drawing/2014/main" id="{1521A0D6-417D-4625-AB02-BC0C747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A9A9A9"/>
            </a:solidFill>
            <a:prstDash val="solid"/>
          </a:ln>
        </p:spPr>
      </p:sp>
      <p:sp>
        <p:nvSpPr>
          <p:cNvPr id="254" name="finish-line">
            <a:extLst xmlns:a="http://schemas.openxmlformats.org/drawingml/2006/main">
              <a:ext uri="{FF2B5EF4-FFF2-40B4-BE49-F238E27FC236}">
                <a16:creationId xmlns:a16="http://schemas.microsoft.com/office/drawing/2014/main" id="{7CDFF711-AB99-4D01-B100-EEE2A88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88720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750"/>
            </a:solidFill>
            <a:prstDash val="solid"/>
          </a:ln>
        </p:spPr>
      </p:sp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c74556b134faf"/>
          <a:stretch xmlns:a="http://schemas.openxmlformats.org/drawingml/2006/main"/>
        </p:blipFill>
        <p:spPr>
          <a:xfrm xmlns:a="http://schemas.openxmlformats.org/drawingml/2006/main">
            <a:off x="7705725" y="10001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6" name="race-axis-caption">
            <a:extLst xmlns:a="http://schemas.openxmlformats.org/drawingml/2006/main">
              <a:ext uri="{FF2B5EF4-FFF2-40B4-BE49-F238E27FC236}">
                <a16:creationId xmlns:a16="http://schemas.microsoft.com/office/drawing/2014/main" id="{5214E8BE-C3B7-4E10-BC02-918B4AB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000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i="1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pPr>
            <a:r>
              <a:rPr sz="975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PII F1  →  higher is better</a:t>
            </a:r>
          </a:p>
        </p:txBody>
      </p:sp>
      <p:sp>
        <p:nvSpPr>
          <p:cNvPr id="257" name="race-label-Logistic Regression">
            <a:extLst xmlns:a="http://schemas.openxmlformats.org/drawingml/2006/main">
              <a:ext uri="{FF2B5EF4-FFF2-40B4-BE49-F238E27FC236}">
                <a16:creationId xmlns:a16="http://schemas.microsoft.com/office/drawing/2014/main" id="{A327F4F0-EE0B-4DCF-829A-DFDE373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477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</a:t>
            </a:r>
          </a:p>
        </p:txBody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03ee72bf64210"/>
          <a:stretch xmlns:a="http://schemas.openxmlformats.org/drawingml/2006/main"/>
        </p:blipFill>
        <p:spPr>
          <a:xfrm xmlns:a="http://schemas.openxmlformats.org/drawingml/2006/main">
            <a:off x="4800295" y="1277396"/>
            <a:ext cx="819150" cy="216982"/>
          </a:xfrm>
          <a:prstGeom xmlns:a="http://schemas.openxmlformats.org/drawingml/2006/main" prst="rect">
            <a:avLst/>
          </a:prstGeom>
        </p:spPr>
      </p:pic>
      <p:sp>
        <p:nvSpPr>
          <p:cNvPr id="259" name="race-value-Logistic Regression">
            <a:extLst xmlns:a="http://schemas.openxmlformats.org/drawingml/2006/main">
              <a:ext uri="{FF2B5EF4-FFF2-40B4-BE49-F238E27FC236}">
                <a16:creationId xmlns:a16="http://schemas.microsoft.com/office/drawing/2014/main" id="{EB6CE53B-29CA-435A-919B-24B627DD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477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0.881</a:t>
            </a:r>
          </a:p>
        </p:txBody>
      </p:sp>
      <p:sp>
        <p:nvSpPr>
          <p:cNvPr id="260" name="race-label-MLP (t=0.02)">
            <a:extLst xmlns:a="http://schemas.openxmlformats.org/drawingml/2006/main">
              <a:ext uri="{FF2B5EF4-FFF2-40B4-BE49-F238E27FC236}">
                <a16:creationId xmlns:a16="http://schemas.microsoft.com/office/drawing/2014/main" id="{B6DBAA47-7B95-4D53-A908-1EC4EA6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MLP (t=0.02)</a:t>
            </a:r>
          </a:p>
        </p:txBody>
      </p:sp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822458a974f07"/>
          <a:stretch xmlns:a="http://schemas.openxmlformats.org/drawingml/2006/main"/>
        </p:blipFill>
        <p:spPr>
          <a:xfrm xmlns:a="http://schemas.openxmlformats.org/drawingml/2006/main">
            <a:off x="4622902" y="1668144"/>
            <a:ext cx="819150" cy="216538"/>
          </a:xfrm>
          <a:prstGeom xmlns:a="http://schemas.openxmlformats.org/drawingml/2006/main" prst="rect">
            <a:avLst/>
          </a:prstGeom>
        </p:spPr>
      </p:pic>
      <p:sp>
        <p:nvSpPr>
          <p:cNvPr id="262" name="race-value-MLP (t=0.02)">
            <a:extLst xmlns:a="http://schemas.openxmlformats.org/drawingml/2006/main">
              <a:ext uri="{FF2B5EF4-FFF2-40B4-BE49-F238E27FC236}">
                <a16:creationId xmlns:a16="http://schemas.microsoft.com/office/drawing/2014/main" id="{F780C76A-9955-4E99-8983-4ECEFBF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0.873</a:t>
            </a:r>
          </a:p>
        </p:txBody>
      </p:sp>
      <p:sp>
        <p:nvSpPr>
          <p:cNvPr id="263" name="race-label-DistilBERT">
            <a:extLst xmlns:a="http://schemas.openxmlformats.org/drawingml/2006/main">
              <a:ext uri="{FF2B5EF4-FFF2-40B4-BE49-F238E27FC236}">
                <a16:creationId xmlns:a16="http://schemas.microsoft.com/office/drawing/2014/main" id="{5A9684A0-21CF-4C9F-A52A-D4BF893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</a:t>
            </a:r>
          </a:p>
        </p:txBody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11aad6ae5430b"/>
          <a:stretch xmlns:a="http://schemas.openxmlformats.org/drawingml/2006/main"/>
        </p:blipFill>
        <p:spPr>
          <a:xfrm xmlns:a="http://schemas.openxmlformats.org/drawingml/2006/main">
            <a:off x="7017715" y="2058446"/>
            <a:ext cx="819150" cy="216982"/>
          </a:xfrm>
          <a:prstGeom xmlns:a="http://schemas.openxmlformats.org/drawingml/2006/main" prst="rect">
            <a:avLst/>
          </a:prstGeom>
        </p:spPr>
      </p:pic>
      <p:sp>
        <p:nvSpPr>
          <p:cNvPr id="265" name="race-value-DistilBERT">
            <a:extLst xmlns:a="http://schemas.openxmlformats.org/drawingml/2006/main">
              <a:ext uri="{FF2B5EF4-FFF2-40B4-BE49-F238E27FC236}">
                <a16:creationId xmlns:a16="http://schemas.microsoft.com/office/drawing/2014/main" id="{D29BDE31-ACEE-41D6-91E1-82E97FD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288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0.981</a:t>
            </a:r>
          </a:p>
        </p:txBody>
      </p:sp>
      <p:sp>
        <p:nvSpPr>
          <p:cNvPr id="266" name="race-label-Phi-4*">
            <a:extLst xmlns:a="http://schemas.openxmlformats.org/drawingml/2006/main">
              <a:ext uri="{FF2B5EF4-FFF2-40B4-BE49-F238E27FC236}">
                <a16:creationId xmlns:a16="http://schemas.microsoft.com/office/drawing/2014/main" id="{9BAC1ADA-B343-45D5-A0E6-FF9344F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Phi-4*</a:t>
            </a:r>
          </a:p>
        </p:txBody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88aeed77743f1"/>
          <a:stretch xmlns:a="http://schemas.openxmlformats.org/drawingml/2006/main"/>
        </p:blipFill>
        <p:spPr>
          <a:xfrm xmlns:a="http://schemas.openxmlformats.org/drawingml/2006/main">
            <a:off x="3092882" y="2450033"/>
            <a:ext cx="819150" cy="214859"/>
          </a:xfrm>
          <a:prstGeom xmlns:a="http://schemas.openxmlformats.org/drawingml/2006/main" prst="rect">
            <a:avLst/>
          </a:prstGeom>
        </p:spPr>
      </p:pic>
      <p:sp>
        <p:nvSpPr>
          <p:cNvPr id="268" name="race-value-Phi-4*">
            <a:extLst xmlns:a="http://schemas.openxmlformats.org/drawingml/2006/main">
              <a:ext uri="{FF2B5EF4-FFF2-40B4-BE49-F238E27FC236}">
                <a16:creationId xmlns:a16="http://schemas.microsoft.com/office/drawing/2014/main" id="{1094D965-0133-4807-9D72-CAB76BAA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0.804</a:t>
            </a:r>
          </a:p>
        </p:txBody>
      </p:sp>
      <p:sp>
        <p:nvSpPr>
          <p:cNvPr id="269" name="race-tick-0.8">
            <a:extLst xmlns:a="http://schemas.openxmlformats.org/drawingml/2006/main">
              <a:ext uri="{FF2B5EF4-FFF2-40B4-BE49-F238E27FC236}">
                <a16:creationId xmlns:a16="http://schemas.microsoft.com/office/drawing/2014/main" id="{81F52907-0337-4C8A-9CA7-3493A5D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2724150"/>
            <a:ext cx="419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0.80</a:t>
            </a:r>
          </a:p>
        </p:txBody>
      </p:sp>
      <p:sp>
        <p:nvSpPr>
          <p:cNvPr id="270" name="race-tick-0.9">
            <a:extLst xmlns:a="http://schemas.openxmlformats.org/drawingml/2006/main">
              <a:ext uri="{FF2B5EF4-FFF2-40B4-BE49-F238E27FC236}">
                <a16:creationId xmlns:a16="http://schemas.microsoft.com/office/drawing/2014/main" id="{85B50FDB-440D-475F-B953-2662010C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630" y="2724150"/>
            <a:ext cx="419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0.90</a:t>
            </a:r>
          </a:p>
        </p:txBody>
      </p:sp>
      <p:sp>
        <p:nvSpPr>
          <p:cNvPr id="271" name="race-tick-1">
            <a:extLst xmlns:a="http://schemas.openxmlformats.org/drawingml/2006/main">
              <a:ext uri="{FF2B5EF4-FFF2-40B4-BE49-F238E27FC236}">
                <a16:creationId xmlns:a16="http://schemas.microsoft.com/office/drawing/2014/main" id="{03088D53-FF51-4EC5-AA4A-35A09E40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419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1.00</a:t>
            </a:r>
          </a:p>
        </p:txBody>
      </p:sp>
    </p:spTree>
    <p:extLst>
      <p:ext uri="{BB962C8B-B14F-4D97-AF65-F5344CB8AC3E}">
        <p14:creationId xmlns:p14="http://schemas.microsoft.com/office/powerpoint/2010/main" val="711098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F923E7E9-C4E2-486D-B3F0-97F33EC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69" name="Google Shape;252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a87ebea7104c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3" name="Google Shape;253;p12">
            <a:extLst xmlns:a="http://schemas.openxmlformats.org/drawingml/2006/main">
              <a:ext uri="{FF2B5EF4-FFF2-40B4-BE49-F238E27FC236}">
                <a16:creationId xmlns:a16="http://schemas.microsoft.com/office/drawing/2014/main" id="{710C459D-2F65-4374-B481-4D32877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Same Prompts, Very Different Results</a:t>
            </a:r>
          </a:p>
        </p:txBody>
      </p:sp>
      <p:graphicFrame>
        <p:nvGraphicFramePr>
          <p:cNvPr id="271" name="Google Shape;254;p12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{8780E99D-80D2-4664-8E9A-7E63760A245B}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347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PII F1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FNs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 ms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Comparison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1C1C1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DistilBERT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0.979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41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2.4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3,000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EEF3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Phi-4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0.804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406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688.8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3,000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1E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Detection gap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+0.175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365 fewer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DistilBERT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b="1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Speed gap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287× faster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50" u="none" cap="non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DistilBERT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E0DEDC"/>
                      </a:solidFill>
                      <a:prstDash val="solid"/>
                    </a:lnL>
                    <a:lnR w="9525" cmpd="sng">
                      <a:solidFill>
                        <a:srgbClr val="E0DEDC"/>
                      </a:solidFill>
                      <a:prstDash val="solid"/>
                    </a:lnR>
                    <a:lnT w="9525" cmpd="sng">
                      <a:solidFill>
                        <a:srgbClr val="E0DEDC"/>
                      </a:solidFill>
                      <a:prstDash val="solid"/>
                    </a:lnT>
                    <a:lnB w="9525" cmpd="sng">
                      <a:solidFill>
                        <a:srgbClr val="E0DEDC"/>
                      </a:solidFill>
                      <a:prstDash val="solid"/>
                    </a:lnB>
                    <a:solidFill>
                      <a:srgbClr val="FFF7D6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12">
            <a:extLst xmlns:a="http://schemas.openxmlformats.org/drawingml/2006/main">
              <a:ext uri="{FF2B5EF4-FFF2-40B4-BE49-F238E27FC236}">
                <a16:creationId xmlns:a16="http://schemas.microsoft.com/office/drawing/2014/main" id="{BB76E476-CA65-4447-AB97-FA8EF8B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39777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6" name="Google Shape;256;p12">
            <a:extLst xmlns:a="http://schemas.openxmlformats.org/drawingml/2006/main">
              <a:ext uri="{FF2B5EF4-FFF2-40B4-BE49-F238E27FC236}">
                <a16:creationId xmlns:a16="http://schemas.microsoft.com/office/drawing/2014/main" id="{DAD896BD-05E0-4B12-8737-83166952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91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4" name="Google Shape;25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ba831b78b448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62" y="339471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p12">
            <a:extLst xmlns:a="http://schemas.openxmlformats.org/drawingml/2006/main">
              <a:ext uri="{FF2B5EF4-FFF2-40B4-BE49-F238E27FC236}">
                <a16:creationId xmlns:a16="http://schemas.microsoft.com/office/drawing/2014/main" id="{459DDE3A-C905-4279-A228-1842799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00400"/>
            <a:ext cx="3017400" cy="11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the exact same prompts, DistilBERT missed 41 PII examples; Phi-4 missed 406.</a:t>
            </a:r>
          </a:p>
        </p:txBody>
      </p:sp>
      <p:sp>
        <p:nvSpPr>
          <p:cNvPr id="259" name="Google Shape;259;p12">
            <a:extLst xmlns:a="http://schemas.openxmlformats.org/drawingml/2006/main">
              <a:ext uri="{FF2B5EF4-FFF2-40B4-BE49-F238E27FC236}">
                <a16:creationId xmlns:a16="http://schemas.microsoft.com/office/drawing/2014/main" id="{287B8DB9-935F-456E-937E-B6407B8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08960"/>
            <a:ext cx="39777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12">
            <a:extLst xmlns:a="http://schemas.openxmlformats.org/drawingml/2006/main">
              <a:ext uri="{FF2B5EF4-FFF2-40B4-BE49-F238E27FC236}">
                <a16:creationId xmlns:a16="http://schemas.microsoft.com/office/drawing/2014/main" id="{D63C9D67-7A2A-4C5C-B7BC-9E0B9A68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291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8" name="Google Shape;261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c93044e6d344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76622" y="339471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2" name="Google Shape;262;p12">
            <a:extLst xmlns:a="http://schemas.openxmlformats.org/drawingml/2006/main">
              <a:ext uri="{FF2B5EF4-FFF2-40B4-BE49-F238E27FC236}">
                <a16:creationId xmlns:a16="http://schemas.microsoft.com/office/drawing/2014/main" id="{93FD3C9C-41BD-4977-AE9A-34C8134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0400"/>
            <a:ext cx="3017400" cy="11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Phi-4 averaged 688.8 ms per prompt, about 287× slower than DistilBERT.</a:t>
            </a:r>
          </a:p>
        </p:txBody>
      </p:sp>
      <p:sp>
        <p:nvSpPr>
          <p:cNvPr id="263" name="Google Shape;263;p12">
            <a:extLst xmlns:a="http://schemas.openxmlformats.org/drawingml/2006/main">
              <a:ext uri="{FF2B5EF4-FFF2-40B4-BE49-F238E27FC236}">
                <a16:creationId xmlns:a16="http://schemas.microsoft.com/office/drawing/2014/main" id="{EB61E4E4-243D-4CB6-8FB2-FDF787CB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209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5CD9AA1B-36DC-4E6F-8D18-67CC23AB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67000" cy="5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05" name="Google Shape;27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ba42201b9e49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4759" y="511607"/>
            <a:ext cx="311810" cy="311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250ABD70-42C8-4EB8-B9DA-7DA830BA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7472"/>
            <a:ext cx="74982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222222"/>
                </a:solidFill>
                <a:latin typeface="Cambria"/>
                <a:ea typeface="Cambria"/>
                <a:cs typeface="Cambria"/>
              </a:rPr>
              <a:t>Where the Models Missed</a:t>
            </a:r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6DA13A4A-E9FD-419E-BD81-BDC5BAB3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023300" cy="10791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CD0FE9B4-4F50-4953-9BD2-250BA89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258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09" name="Google Shape;27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69ef79dcac41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62" y="142875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05F6F6C7-2B39-4792-BF21-F11052D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280160"/>
            <a:ext cx="3108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 false negatives</a:t>
            </a:r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74B0F9AC-3F9B-468A-9C20-2D988F7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72768"/>
            <a:ext cx="31089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Dense numeric strings and placeholder-adjacent tokens; 447 misses on the full test set.</a:t>
            </a: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1F619058-8A88-4314-9628-55FA51E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188720"/>
            <a:ext cx="4023300" cy="10791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F2D13DB1-E025-4ACA-8E9A-5C3A07B4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3258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4" name="Google Shape;27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b7895971a64a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76622" y="142875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1B947AD4-7695-409E-990B-FAEA185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80160"/>
            <a:ext cx="3108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Phi-4 false negatives</a:t>
            </a:r>
          </a:p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4164E9E6-E822-4030-8C15-54BA016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72768"/>
            <a:ext cx="31089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Titled names, subtle disclosures, structured IDs/passwords, and non-English text; 406 of 3,000.</a:t>
            </a:r>
          </a:p>
        </p:txBody>
      </p:sp>
      <p:sp>
        <p:nvSpPr>
          <p:cNvPr id="282" name="Google Shape;282;p13">
            <a:extLst xmlns:a="http://schemas.openxmlformats.org/drawingml/2006/main">
              <a:ext uri="{FF2B5EF4-FFF2-40B4-BE49-F238E27FC236}">
                <a16:creationId xmlns:a16="http://schemas.microsoft.com/office/drawing/2014/main" id="{4B08DCC2-46F7-4F81-8BD1-5ED7FD2C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00" cy="10791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83C88D5D-19F7-41A1-922F-DBDD696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9" name="Google Shape;2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bb171cd1e34e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62" y="266319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B128BD1D-C297-4BA3-8844-75485DF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14600"/>
            <a:ext cx="3108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DistilBERT false positives</a:t>
            </a:r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334D6032-CD0C-48AA-AB79-ADF34A21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08"/>
            <a:ext cx="31089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Ambiguous financial and vehicle IDs; 394 on the full test set.</a:t>
            </a:r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35702C91-7D2A-4ACA-8695-42148F5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4023300" cy="10791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FA4F5F1C-ACB1-47F5-A97F-91CF299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5603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24" name="Google Shape;28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3f8708a05540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76622" y="266319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0" name="Google Shape;290;p13">
            <a:extLst xmlns:a="http://schemas.openxmlformats.org/drawingml/2006/main">
              <a:ext uri="{FF2B5EF4-FFF2-40B4-BE49-F238E27FC236}">
                <a16:creationId xmlns:a16="http://schemas.microsoft.com/office/drawing/2014/main" id="{B332C8E6-F431-40EF-ACC2-E91E758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3108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Phi-4 prompt tradeoff</a:t>
            </a:r>
          </a:p>
        </p:txBody>
      </p:sp>
      <p:sp>
        <p:nvSpPr>
          <p:cNvPr id="291" name="Google Shape;291;p13">
            <a:extLst xmlns:a="http://schemas.openxmlformats.org/drawingml/2006/main">
              <a:ext uri="{FF2B5EF4-FFF2-40B4-BE49-F238E27FC236}">
                <a16:creationId xmlns:a16="http://schemas.microsoft.com/office/drawing/2014/main" id="{B0672D61-9C29-484A-89F2-81D46B8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07208"/>
            <a:ext cx="31089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False positives fell 547→382, while false negatives rose 326→406. The revision shifted the tradeoff.</a:t>
            </a:r>
          </a:p>
        </p:txBody>
      </p:sp>
      <p:sp>
        <p:nvSpPr>
          <p:cNvPr id="292" name="Google Shape;292;p13">
            <a:extLst xmlns:a="http://schemas.openxmlformats.org/drawingml/2006/main">
              <a:ext uri="{FF2B5EF4-FFF2-40B4-BE49-F238E27FC236}">
                <a16:creationId xmlns:a16="http://schemas.microsoft.com/office/drawing/2014/main" id="{4067DB2A-94F3-4117-AB89-00BEA0DC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023300" cy="10791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CF6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3">
            <a:extLst xmlns:a="http://schemas.openxmlformats.org/drawingml/2006/main">
              <a:ext uri="{FF2B5EF4-FFF2-40B4-BE49-F238E27FC236}">
                <a16:creationId xmlns:a16="http://schemas.microsoft.com/office/drawing/2014/main" id="{26F30B25-7E1F-4A39-A0A2-B5793A6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7947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29" name="Google Shape;29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33c6c6a3414c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62" y="3897630"/>
            <a:ext cx="251460" cy="2514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5" name="Google Shape;295;p13">
            <a:extLst xmlns:a="http://schemas.openxmlformats.org/drawingml/2006/main">
              <a:ext uri="{FF2B5EF4-FFF2-40B4-BE49-F238E27FC236}">
                <a16:creationId xmlns:a16="http://schemas.microsoft.com/office/drawing/2014/main" id="{59D0B114-C0AA-488E-8AB3-4A4586A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49040"/>
            <a:ext cx="3108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Hard PII formats</a:t>
            </a:r>
          </a:p>
        </p:txBody>
      </p:sp>
      <p:sp>
        <p:nvSpPr>
          <p:cNvPr id="296" name="Google Shape;296;p13">
            <a:extLst xmlns:a="http://schemas.openxmlformats.org/drawingml/2006/main">
              <a:ext uri="{FF2B5EF4-FFF2-40B4-BE49-F238E27FC236}">
                <a16:creationId xmlns:a16="http://schemas.microsoft.com/office/drawing/2014/main" id="{1CAFA744-F33D-4DCF-9535-346368E2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41648"/>
            <a:ext cx="31089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Informal phones, nicknames, international addresses, IBAN-style codes, and dense-text zip codes.</a:t>
            </a:r>
          </a:p>
        </p:txBody>
      </p:sp>
      <p:sp>
        <p:nvSpPr>
          <p:cNvPr id="297" name="Google Shape;297;p13">
            <a:extLst xmlns:a="http://schemas.openxmlformats.org/drawingml/2006/main">
              <a:ext uri="{FF2B5EF4-FFF2-40B4-BE49-F238E27FC236}">
                <a16:creationId xmlns:a16="http://schemas.microsoft.com/office/drawing/2014/main" id="{E694335D-0BB6-4847-B9D2-86AD5EC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3322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C1C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" name="Google Shape;303;p14">
            <a:extLst xmlns:a="http://schemas.openxmlformats.org/drawingml/2006/main">
              <a:ext uri="{FF2B5EF4-FFF2-40B4-BE49-F238E27FC236}">
                <a16:creationId xmlns:a16="http://schemas.microsoft.com/office/drawing/2014/main" id="{91C06FF8-6F0E-46B2-97C2-689AD80B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5760" y="-27432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4" name="Google Shape;304;p14">
            <a:extLst xmlns:a="http://schemas.openxmlformats.org/drawingml/2006/main">
              <a:ext uri="{FF2B5EF4-FFF2-40B4-BE49-F238E27FC236}">
                <a16:creationId xmlns:a16="http://schemas.microsoft.com/office/drawing/2014/main" id="{D9331492-1708-4F68-98C5-8066A46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" y="-27432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4">
            <a:extLst xmlns:a="http://schemas.openxmlformats.org/drawingml/2006/main">
              <a:ext uri="{FF2B5EF4-FFF2-40B4-BE49-F238E27FC236}">
                <a16:creationId xmlns:a16="http://schemas.microsoft.com/office/drawing/2014/main" id="{E09F687E-3DAA-4538-B64C-5F399E2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-27432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6" name="Google Shape;306;p14">
            <a:extLst xmlns:a="http://schemas.openxmlformats.org/drawingml/2006/main">
              <a:ext uri="{FF2B5EF4-FFF2-40B4-BE49-F238E27FC236}">
                <a16:creationId xmlns:a16="http://schemas.microsoft.com/office/drawing/2014/main" id="{DBF33017-78A7-4E76-9C6B-74474EA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" y="-73152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" name="Google Shape;307;p14">
            <a:extLst xmlns:a="http://schemas.openxmlformats.org/drawingml/2006/main">
              <a:ext uri="{FF2B5EF4-FFF2-40B4-BE49-F238E27FC236}">
                <a16:creationId xmlns:a16="http://schemas.microsoft.com/office/drawing/2014/main" id="{8E47CBCE-D317-4F57-B3BE-9C1BCBA1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-73152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8" name="Google Shape;308;p14">
            <a:extLst xmlns:a="http://schemas.openxmlformats.org/drawingml/2006/main">
              <a:ext uri="{FF2B5EF4-FFF2-40B4-BE49-F238E27FC236}">
                <a16:creationId xmlns:a16="http://schemas.microsoft.com/office/drawing/2014/main" id="{414B34C2-13BA-4A84-A778-1A208BC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-73152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9" name="Google Shape;309;p14">
            <a:extLst xmlns:a="http://schemas.openxmlformats.org/drawingml/2006/main">
              <a:ext uri="{FF2B5EF4-FFF2-40B4-BE49-F238E27FC236}">
                <a16:creationId xmlns:a16="http://schemas.microsoft.com/office/drawing/2014/main" id="{F97121B0-6CD4-4201-8093-AA2A207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5760" y="12801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14">
            <a:extLst xmlns:a="http://schemas.openxmlformats.org/drawingml/2006/main">
              <a:ext uri="{FF2B5EF4-FFF2-40B4-BE49-F238E27FC236}">
                <a16:creationId xmlns:a16="http://schemas.microsoft.com/office/drawing/2014/main" id="{81590062-8712-44B0-BAB0-45B2622D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" y="12801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1" name="Google Shape;311;p14">
            <a:extLst xmlns:a="http://schemas.openxmlformats.org/drawingml/2006/main">
              <a:ext uri="{FF2B5EF4-FFF2-40B4-BE49-F238E27FC236}">
                <a16:creationId xmlns:a16="http://schemas.microsoft.com/office/drawing/2014/main" id="{5FAF2013-84FF-499E-9029-A3EDC14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2801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2" name="Google Shape;312;p14">
            <a:extLst xmlns:a="http://schemas.openxmlformats.org/drawingml/2006/main">
              <a:ext uri="{FF2B5EF4-FFF2-40B4-BE49-F238E27FC236}">
                <a16:creationId xmlns:a16="http://schemas.microsoft.com/office/drawing/2014/main" id="{857EFB57-ECF1-48E4-A7C6-30EDAE7A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" y="32918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14">
            <a:extLst xmlns:a="http://schemas.openxmlformats.org/drawingml/2006/main">
              <a:ext uri="{FF2B5EF4-FFF2-40B4-BE49-F238E27FC236}">
                <a16:creationId xmlns:a16="http://schemas.microsoft.com/office/drawing/2014/main" id="{66516ABA-7C50-478E-9353-6EC90C4D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32918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" name="Google Shape;314;p14">
            <a:extLst xmlns:a="http://schemas.openxmlformats.org/drawingml/2006/main">
              <a:ext uri="{FF2B5EF4-FFF2-40B4-BE49-F238E27FC236}">
                <a16:creationId xmlns:a16="http://schemas.microsoft.com/office/drawing/2014/main" id="{213B4C2C-DD90-4450-9DC9-ACBF424F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5" name="Google Shape;315;p14">
            <a:extLst xmlns:a="http://schemas.openxmlformats.org/drawingml/2006/main">
              <a:ext uri="{FF2B5EF4-FFF2-40B4-BE49-F238E27FC236}">
                <a16:creationId xmlns:a16="http://schemas.microsoft.com/office/drawing/2014/main" id="{18127BDA-FA45-489F-BEF1-1015C41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640200" cy="64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39" name="Google Shape;31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02d4d9aafd42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4098" y="64693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7" name="Google Shape;317;p14">
            <a:extLst xmlns:a="http://schemas.openxmlformats.org/drawingml/2006/main">
              <a:ext uri="{FF2B5EF4-FFF2-40B4-BE49-F238E27FC236}">
                <a16:creationId xmlns:a16="http://schemas.microsoft.com/office/drawing/2014/main" id="{CB2E9D4C-8957-4508-965F-A00FDC3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8640"/>
            <a:ext cx="54864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Takeaway</a:t>
            </a:r>
          </a:p>
        </p:txBody>
      </p:sp>
      <p:sp>
        <p:nvSpPr>
          <p:cNvPr id="318" name="Google Shape;318;p14">
            <a:extLst xmlns:a="http://schemas.openxmlformats.org/drawingml/2006/main">
              <a:ext uri="{FF2B5EF4-FFF2-40B4-BE49-F238E27FC236}">
                <a16:creationId xmlns:a16="http://schemas.microsoft.com/office/drawing/2014/main" id="{78A7EA3F-8152-49C9-B3F9-889F4B1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755000" cy="54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9" name="Google Shape;319;p14">
            <a:extLst xmlns:a="http://schemas.openxmlformats.org/drawingml/2006/main">
              <a:ext uri="{FF2B5EF4-FFF2-40B4-BE49-F238E27FC236}">
                <a16:creationId xmlns:a16="http://schemas.microsoft.com/office/drawing/2014/main" id="{AD485987-6C53-41D3-91ED-A1BD99FF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7550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“Detect before you disclose.”</a:t>
            </a:r>
          </a:p>
        </p:txBody>
      </p:sp>
      <p:sp>
        <p:nvSpPr>
          <p:cNvPr id="320" name="Google Shape;320;p14">
            <a:extLst xmlns:a="http://schemas.openxmlformats.org/drawingml/2006/main">
              <a:ext uri="{FF2B5EF4-FFF2-40B4-BE49-F238E27FC236}">
                <a16:creationId xmlns:a16="http://schemas.microsoft.com/office/drawing/2014/main" id="{50157B36-7460-4A0D-9732-F58A27A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7863900" cy="155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500" b="0" i="0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Specialized models outperformed prompted Phi-4 on this dataset-defined task</a:t>
            </a:r>
          </a:p>
          <a:p xmlns:a="http://schemas.openxmlformats.org/drawingml/2006/main">
            <a:pPr marL="342900" indent="-342900" algn="l">
              <a:spcBef>
                <a:spcPts val="800"/>
              </a:spcBef>
              <a:spcAft>
                <a:spcPts val="0"/>
              </a:spcAft>
              <a:buChar char="●"/>
            </a:pPr>
            <a:r>
              <a:rPr sz="1500" b="0" i="0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DistilBERT led detection (PII F1 0.981) and averaged 2.4 ms per prompt</a:t>
            </a:r>
          </a:p>
          <a:p xmlns:a="http://schemas.openxmlformats.org/drawingml/2006/main">
            <a:pPr marL="342900" indent="-342900" algn="l">
              <a:spcBef>
                <a:spcPts val="800"/>
              </a:spcBef>
              <a:spcAft>
                <a:spcPts val="0"/>
              </a:spcAft>
              <a:buChar char="●"/>
            </a:pPr>
            <a:r>
              <a:rPr sz="1500" b="0" i="0" u="none" cap="none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Logistic Regression remained a credible lower-complexity option (PII F1 0.881; 1.55 ms)</a:t>
            </a:r>
          </a:p>
        </p:txBody>
      </p:sp>
      <p:sp>
        <p:nvSpPr>
          <p:cNvPr id="321" name="Google Shape;321;p14">
            <a:extLst xmlns:a="http://schemas.openxmlformats.org/drawingml/2006/main">
              <a:ext uri="{FF2B5EF4-FFF2-40B4-BE49-F238E27FC236}">
                <a16:creationId xmlns:a16="http://schemas.microsoft.com/office/drawing/2014/main" id="{C968087B-7EEC-49D3-AC79-15EC8D7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7863900" cy="7773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A2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4">
            <a:extLst xmlns:a="http://schemas.openxmlformats.org/drawingml/2006/main">
              <a:ext uri="{FF2B5EF4-FFF2-40B4-BE49-F238E27FC236}">
                <a16:creationId xmlns:a16="http://schemas.microsoft.com/office/drawing/2014/main" id="{45656D20-B359-43C2-824A-9A16A1C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74982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DB913"/>
                </a:solidFill>
                <a:latin typeface="Cambria"/>
                <a:ea typeface="Cambria"/>
                <a:cs typeface="Cambria"/>
              </a:rPr>
              <a:t>For this task, model fit mattered more than model size.</a:t>
            </a:r>
          </a:p>
        </p:txBody>
      </p:sp>
      <p:sp>
        <p:nvSpPr>
          <p:cNvPr id="323" name="Google Shape;323;p14">
            <a:extLst xmlns:a="http://schemas.openxmlformats.org/drawingml/2006/main">
              <a:ext uri="{FF2B5EF4-FFF2-40B4-BE49-F238E27FC236}">
                <a16:creationId xmlns:a16="http://schemas.microsoft.com/office/drawing/2014/main" id="{5422E31C-08A8-4345-9914-280A6F9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347" name="Google Shape;32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9b32eb87b943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4098" y="64693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19500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1C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Google Shape;330;p15">
            <a:extLst xmlns:a="http://schemas.openxmlformats.org/drawingml/2006/main">
              <a:ext uri="{FF2B5EF4-FFF2-40B4-BE49-F238E27FC236}">
                <a16:creationId xmlns:a16="http://schemas.microsoft.com/office/drawing/2014/main" id="{0F98E03C-3BD6-4FC8-98F4-0BB58B8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56616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1" name="Google Shape;331;p15">
            <a:extLst xmlns:a="http://schemas.openxmlformats.org/drawingml/2006/main">
              <a:ext uri="{FF2B5EF4-FFF2-40B4-BE49-F238E27FC236}">
                <a16:creationId xmlns:a16="http://schemas.microsoft.com/office/drawing/2014/main" id="{107A0758-5535-4304-B08A-E29B3DF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56616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" name="Google Shape;332;p15">
            <a:extLst xmlns:a="http://schemas.openxmlformats.org/drawingml/2006/main">
              <a:ext uri="{FF2B5EF4-FFF2-40B4-BE49-F238E27FC236}">
                <a16:creationId xmlns:a16="http://schemas.microsoft.com/office/drawing/2014/main" id="{F4F25A1C-0179-49AD-A18D-F92DED35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566160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3" name="Google Shape;333;p15">
            <a:extLst xmlns:a="http://schemas.openxmlformats.org/drawingml/2006/main">
              <a:ext uri="{FF2B5EF4-FFF2-40B4-BE49-F238E27FC236}">
                <a16:creationId xmlns:a16="http://schemas.microsoft.com/office/drawing/2014/main" id="{3813E31D-08EB-4E69-AB2B-A524FE3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67328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" name="Google Shape;334;p15">
            <a:extLst xmlns:a="http://schemas.openxmlformats.org/drawingml/2006/main">
              <a:ext uri="{FF2B5EF4-FFF2-40B4-BE49-F238E27FC236}">
                <a16:creationId xmlns:a16="http://schemas.microsoft.com/office/drawing/2014/main" id="{DD4C6C9A-9318-4016-AC91-C791C8B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767328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5" name="Google Shape;335;p15">
            <a:extLst xmlns:a="http://schemas.openxmlformats.org/drawingml/2006/main">
              <a:ext uri="{FF2B5EF4-FFF2-40B4-BE49-F238E27FC236}">
                <a16:creationId xmlns:a16="http://schemas.microsoft.com/office/drawing/2014/main" id="{98C3D519-8CFC-456C-9699-7D83997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7328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15">
            <a:extLst xmlns:a="http://schemas.openxmlformats.org/drawingml/2006/main">
              <a:ext uri="{FF2B5EF4-FFF2-40B4-BE49-F238E27FC236}">
                <a16:creationId xmlns:a16="http://schemas.microsoft.com/office/drawing/2014/main" id="{F732C57C-7F88-4347-985D-B33196F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6849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7" name="Google Shape;337;p15">
            <a:extLst xmlns:a="http://schemas.openxmlformats.org/drawingml/2006/main">
              <a:ext uri="{FF2B5EF4-FFF2-40B4-BE49-F238E27FC236}">
                <a16:creationId xmlns:a16="http://schemas.microsoft.com/office/drawing/2014/main" id="{2ED093AB-3EA1-4789-BEDD-F3340A7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96849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8" name="Google Shape;338;p15">
            <a:extLst xmlns:a="http://schemas.openxmlformats.org/drawingml/2006/main">
              <a:ext uri="{FF2B5EF4-FFF2-40B4-BE49-F238E27FC236}">
                <a16:creationId xmlns:a16="http://schemas.microsoft.com/office/drawing/2014/main" id="{F2F9960E-76A3-4800-A001-DA89457E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968496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9" name="Google Shape;339;p15">
            <a:extLst xmlns:a="http://schemas.openxmlformats.org/drawingml/2006/main">
              <a:ext uri="{FF2B5EF4-FFF2-40B4-BE49-F238E27FC236}">
                <a16:creationId xmlns:a16="http://schemas.microsoft.com/office/drawing/2014/main" id="{AC658339-EDAA-4E18-9AA3-41954B5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6966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0" name="Google Shape;340;p15">
            <a:extLst xmlns:a="http://schemas.openxmlformats.org/drawingml/2006/main">
              <a:ext uri="{FF2B5EF4-FFF2-40B4-BE49-F238E27FC236}">
                <a16:creationId xmlns:a16="http://schemas.microsoft.com/office/drawing/2014/main" id="{25619F68-2380-445B-A9D8-4E85537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16966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1" name="Google Shape;341;p15">
            <a:extLst xmlns:a="http://schemas.openxmlformats.org/drawingml/2006/main">
              <a:ext uri="{FF2B5EF4-FFF2-40B4-BE49-F238E27FC236}">
                <a16:creationId xmlns:a16="http://schemas.microsoft.com/office/drawing/2014/main" id="{6A9623A3-470F-481D-AEB4-83C550DE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69664"/>
            <a:ext cx="201300" cy="20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9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2" name="Google Shape;342;p15">
            <a:extLst xmlns:a="http://schemas.openxmlformats.org/drawingml/2006/main">
              <a:ext uri="{FF2B5EF4-FFF2-40B4-BE49-F238E27FC236}">
                <a16:creationId xmlns:a16="http://schemas.microsoft.com/office/drawing/2014/main" id="{214636C0-2C91-4A46-AAB8-678B39F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200" cy="64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3" name="Google Shape;343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3ac116be2f4b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4" name="Google Shape;344;p15">
            <a:extLst xmlns:a="http://schemas.openxmlformats.org/drawingml/2006/main">
              <a:ext uri="{FF2B5EF4-FFF2-40B4-BE49-F238E27FC236}">
                <a16:creationId xmlns:a16="http://schemas.microsoft.com/office/drawing/2014/main" id="{7C58C8BF-FC99-4688-8E75-142210B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6692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FDB913"/>
                </a:solidFill>
                <a:latin typeface="Calibri"/>
                <a:ea typeface="Calibri"/>
                <a:cs typeface="Calibri"/>
              </a:rPr>
              <a:t>CYBER 207 · AI/ML FINAL PROJECT</a:t>
            </a:r>
          </a:p>
        </p:txBody>
      </p:sp>
      <p:sp>
        <p:nvSpPr>
          <p:cNvPr id="345" name="Google Shape;345;p15">
            <a:extLst xmlns:a="http://schemas.openxmlformats.org/drawingml/2006/main">
              <a:ext uri="{FF2B5EF4-FFF2-40B4-BE49-F238E27FC236}">
                <a16:creationId xmlns:a16="http://schemas.microsoft.com/office/drawing/2014/main" id="{FB72C875-A576-4DF8-B27A-FAE7D123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346" name="Google Shape;346;p15">
            <a:extLst xmlns:a="http://schemas.openxmlformats.org/drawingml/2006/main">
              <a:ext uri="{FF2B5EF4-FFF2-40B4-BE49-F238E27FC236}">
                <a16:creationId xmlns:a16="http://schemas.microsoft.com/office/drawing/2014/main" id="{8607B30F-AF74-4AC0-9EEE-F4BB8323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77724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FCF6F5"/>
                </a:solidFill>
                <a:latin typeface="Calibri"/>
                <a:ea typeface="Calibri"/>
                <a:cs typeface="Calibri"/>
              </a:rPr>
              <a:t>Questions?</a:t>
            </a:r>
          </a:p>
        </p:txBody>
      </p:sp>
      <p:sp>
        <p:nvSpPr>
          <p:cNvPr id="347" name="Google Shape;347;p15">
            <a:extLst xmlns:a="http://schemas.openxmlformats.org/drawingml/2006/main">
              <a:ext uri="{FF2B5EF4-FFF2-40B4-BE49-F238E27FC236}">
                <a16:creationId xmlns:a16="http://schemas.microsoft.com/office/drawing/2014/main" id="{0BD1BAF4-D0D4-464D-9039-3665C90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3883775"/>
            <a:ext cx="5486400" cy="100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Alan Jiang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Aura Gaines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Brandon Shumack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Fil Dziembowski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8" name="Google Shape;348;p15">
            <a:extLst xmlns:a="http://schemas.openxmlformats.org/drawingml/2006/main">
              <a:ext uri="{FF2B5EF4-FFF2-40B4-BE49-F238E27FC236}">
                <a16:creationId xmlns:a16="http://schemas.microsoft.com/office/drawing/2014/main" id="{DF096246-389E-4CEA-8F89-424C20FF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92040"/>
            <a:ext cx="36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13024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2026-07-30T00:43:34.2400000Z</dcterms:created>
  <dcterms:modified xsi:type="dcterms:W3CDTF">2026-07-30T00:43:34.2400000Z</dcterms:modified>
</coreProperties>
</file>